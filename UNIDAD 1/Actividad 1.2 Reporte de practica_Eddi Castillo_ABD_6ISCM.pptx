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8" d="100"/>
          <a:sy n="58" d="100"/>
        </p:scale>
        <p:origin x="514" y="-17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12644" y="475122"/>
            <a:ext cx="10993755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231123" y="1590154"/>
            <a:ext cx="9259569" cy="47821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ubuntu.com/download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5953" y="1870684"/>
            <a:ext cx="8225155" cy="7522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2420" marR="253365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Instituto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Tecnológico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Frontera</a:t>
            </a:r>
            <a:r>
              <a:rPr sz="2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Comalapa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Modalidad</a:t>
            </a:r>
            <a:r>
              <a:rPr sz="2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Mixta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2400">
              <a:latin typeface="Arial"/>
              <a:cs typeface="Arial"/>
            </a:endParaRPr>
          </a:p>
          <a:p>
            <a:pPr marL="1323340" algn="ctr">
              <a:lnSpc>
                <a:spcPct val="100000"/>
              </a:lnSpc>
            </a:pP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Materia:</a:t>
            </a:r>
            <a:endParaRPr sz="2600">
              <a:latin typeface="Arial"/>
              <a:cs typeface="Arial"/>
            </a:endParaRPr>
          </a:p>
          <a:p>
            <a:pPr marL="1322070" algn="ctr">
              <a:lnSpc>
                <a:spcPct val="100000"/>
              </a:lnSpc>
            </a:pP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Administración</a:t>
            </a:r>
            <a:r>
              <a:rPr sz="26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6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base</a:t>
            </a:r>
            <a:r>
              <a:rPr sz="26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6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endParaRPr sz="2600">
              <a:latin typeface="Arial"/>
              <a:cs typeface="Arial"/>
            </a:endParaRPr>
          </a:p>
          <a:p>
            <a:pPr marL="3627754" marR="2297430" indent="1905" algn="ctr">
              <a:lnSpc>
                <a:spcPct val="100000"/>
              </a:lnSpc>
            </a:pP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Semestre: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Sexto</a:t>
            </a:r>
            <a:r>
              <a:rPr sz="26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semestre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Especialidad:</a:t>
            </a:r>
            <a:endParaRPr sz="2600">
              <a:latin typeface="Arial"/>
              <a:cs typeface="Arial"/>
            </a:endParaRPr>
          </a:p>
          <a:p>
            <a:pPr marL="1317625" algn="ctr">
              <a:lnSpc>
                <a:spcPct val="100000"/>
              </a:lnSpc>
            </a:pP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Ingeniería</a:t>
            </a:r>
            <a:r>
              <a:rPr sz="26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26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Sistemas</a:t>
            </a:r>
            <a:r>
              <a:rPr sz="26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Computacionales.</a:t>
            </a:r>
            <a:endParaRPr sz="2600">
              <a:latin typeface="Arial"/>
              <a:cs typeface="Arial"/>
            </a:endParaRPr>
          </a:p>
          <a:p>
            <a:pPr marL="1322705" algn="ctr">
              <a:lnSpc>
                <a:spcPct val="100000"/>
              </a:lnSpc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Numero</a:t>
            </a:r>
            <a:r>
              <a:rPr sz="26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6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control:</a:t>
            </a:r>
            <a:endParaRPr sz="2600">
              <a:latin typeface="Arial"/>
              <a:cs typeface="Arial"/>
            </a:endParaRPr>
          </a:p>
          <a:p>
            <a:pPr marL="1323975" algn="ctr">
              <a:lnSpc>
                <a:spcPct val="100000"/>
              </a:lnSpc>
            </a:pP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231260005</a:t>
            </a:r>
            <a:endParaRPr sz="2600">
              <a:latin typeface="Arial"/>
              <a:cs typeface="Arial"/>
            </a:endParaRPr>
          </a:p>
          <a:p>
            <a:pPr marL="1323340" algn="ctr">
              <a:lnSpc>
                <a:spcPct val="100000"/>
              </a:lnSpc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Nombre</a:t>
            </a:r>
            <a:r>
              <a:rPr sz="2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alumno:</a:t>
            </a:r>
            <a:endParaRPr sz="2600">
              <a:latin typeface="Arial"/>
              <a:cs typeface="Arial"/>
            </a:endParaRPr>
          </a:p>
          <a:p>
            <a:pPr marL="1323340" algn="ctr">
              <a:lnSpc>
                <a:spcPct val="100000"/>
              </a:lnSpc>
            </a:pP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Eddi</a:t>
            </a:r>
            <a:r>
              <a:rPr sz="26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Uriel</a:t>
            </a:r>
            <a:r>
              <a:rPr sz="26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Castillo</a:t>
            </a:r>
            <a:r>
              <a:rPr sz="26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Sánchez</a:t>
            </a:r>
            <a:endParaRPr sz="2600">
              <a:latin typeface="Arial"/>
              <a:cs typeface="Arial"/>
            </a:endParaRPr>
          </a:p>
          <a:p>
            <a:pPr marL="1323340" algn="ctr">
              <a:lnSpc>
                <a:spcPct val="100000"/>
              </a:lnSpc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Nombre</a:t>
            </a:r>
            <a:r>
              <a:rPr sz="2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docente:</a:t>
            </a:r>
            <a:endParaRPr sz="2600">
              <a:latin typeface="Arial"/>
              <a:cs typeface="Arial"/>
            </a:endParaRPr>
          </a:p>
          <a:p>
            <a:pPr marL="1323975" algn="ctr">
              <a:lnSpc>
                <a:spcPct val="100000"/>
              </a:lnSpc>
            </a:pP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Francisco</a:t>
            </a:r>
            <a:r>
              <a:rPr sz="2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Javier</a:t>
            </a:r>
            <a:r>
              <a:rPr sz="26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Mingo</a:t>
            </a:r>
            <a:r>
              <a:rPr sz="2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Velazquez</a:t>
            </a:r>
            <a:endParaRPr sz="2600">
              <a:latin typeface="Arial"/>
              <a:cs typeface="Arial"/>
            </a:endParaRPr>
          </a:p>
          <a:p>
            <a:pPr marL="1322705" algn="ctr">
              <a:lnSpc>
                <a:spcPct val="100000"/>
              </a:lnSpc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Nombre</a:t>
            </a:r>
            <a:r>
              <a:rPr sz="2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trabajo:</a:t>
            </a:r>
            <a:endParaRPr sz="2600">
              <a:latin typeface="Arial"/>
              <a:cs typeface="Arial"/>
            </a:endParaRPr>
          </a:p>
          <a:p>
            <a:pPr marL="1321435" algn="ctr">
              <a:lnSpc>
                <a:spcPct val="100000"/>
              </a:lnSpc>
            </a:pP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Act</a:t>
            </a:r>
            <a:r>
              <a:rPr sz="26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1.2</a:t>
            </a:r>
            <a:r>
              <a:rPr sz="26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Reporte</a:t>
            </a:r>
            <a:r>
              <a:rPr sz="26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6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practica</a:t>
            </a:r>
            <a:endParaRPr sz="2600">
              <a:latin typeface="Arial"/>
              <a:cs typeface="Arial"/>
            </a:endParaRPr>
          </a:p>
          <a:p>
            <a:pPr marL="1324610" algn="ctr">
              <a:lnSpc>
                <a:spcPts val="3120"/>
              </a:lnSpc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Fecha</a:t>
            </a:r>
            <a:r>
              <a:rPr sz="2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entrega</a:t>
            </a: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2600">
              <a:latin typeface="Arial"/>
              <a:cs typeface="Arial"/>
            </a:endParaRPr>
          </a:p>
          <a:p>
            <a:pPr algn="ctr">
              <a:lnSpc>
                <a:spcPts val="3360"/>
              </a:lnSpc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Frontera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comalapa,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Chiapas</a:t>
            </a:r>
            <a:r>
              <a:rPr sz="2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19</a:t>
            </a:r>
            <a:r>
              <a:rPr sz="2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mayo</a:t>
            </a:r>
            <a:r>
              <a:rPr sz="2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0455" y="461817"/>
            <a:ext cx="5561326" cy="6330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17454" y="2075218"/>
            <a:ext cx="6579146" cy="657914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8710282"/>
            <a:ext cx="3608796" cy="9201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401929" y="0"/>
            <a:ext cx="3857421" cy="61793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66608" y="3399028"/>
            <a:ext cx="866203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400" spc="195" dirty="0"/>
              <a:t>INTRODUCCIÓN</a:t>
            </a:r>
            <a:endParaRPr sz="8400"/>
          </a:p>
        </p:txBody>
      </p:sp>
      <p:sp>
        <p:nvSpPr>
          <p:cNvPr id="7" name="object 7"/>
          <p:cNvSpPr txBox="1"/>
          <p:nvPr/>
        </p:nvSpPr>
        <p:spPr>
          <a:xfrm>
            <a:off x="1666608" y="4926850"/>
            <a:ext cx="6833870" cy="33166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95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materia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Administración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Bases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Datos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hicimos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esta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práctica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para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aprender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instalar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Ubuntu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junto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con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Windows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es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como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tener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dos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sistemas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una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sola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máquina: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Windows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para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lo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normal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Ubuntu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para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cosas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más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técnicas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como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programar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guardar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datos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grandes.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Bajamos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programa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Ubuntu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dividimos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el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disco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duro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con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cuidado,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usamos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una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USB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especial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al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final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pusimos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las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bases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datos.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17454" y="2075218"/>
            <a:ext cx="6579146" cy="657914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8710282"/>
            <a:ext cx="3608796" cy="9201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401929" y="0"/>
            <a:ext cx="3857421" cy="61793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66608" y="3398901"/>
            <a:ext cx="845629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400" spc="200" dirty="0"/>
              <a:t>JUSTIFICACION</a:t>
            </a:r>
            <a:endParaRPr sz="8400"/>
          </a:p>
        </p:txBody>
      </p:sp>
      <p:sp>
        <p:nvSpPr>
          <p:cNvPr id="7" name="object 7"/>
          <p:cNvSpPr txBox="1"/>
          <p:nvPr/>
        </p:nvSpPr>
        <p:spPr>
          <a:xfrm>
            <a:off x="1666608" y="4939906"/>
            <a:ext cx="6682105" cy="454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2225">
              <a:lnSpc>
                <a:spcPct val="1124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Esto</a:t>
            </a:r>
            <a:r>
              <a:rPr sz="2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es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importante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porque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las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empresas</a:t>
            </a:r>
            <a:r>
              <a:rPr sz="2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usan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mucho</a:t>
            </a:r>
            <a:r>
              <a:rPr sz="2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Linux</a:t>
            </a:r>
            <a:r>
              <a:rPr sz="2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como</a:t>
            </a:r>
            <a:r>
              <a:rPr sz="2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Ubuntu</a:t>
            </a:r>
            <a:r>
              <a:rPr sz="2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2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servidores</a:t>
            </a:r>
            <a:r>
              <a:rPr sz="2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bases</a:t>
            </a:r>
            <a:r>
              <a:rPr sz="2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datos,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ya</a:t>
            </a:r>
            <a:r>
              <a:rPr sz="2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es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gratis</a:t>
            </a:r>
            <a:r>
              <a:rPr sz="2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muy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estable.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12400"/>
              </a:lnSpc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Como</a:t>
            </a:r>
            <a:r>
              <a:rPr sz="2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estudiantes</a:t>
            </a:r>
            <a:r>
              <a:rPr sz="2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Ingeniería</a:t>
            </a:r>
            <a:r>
              <a:rPr sz="2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2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Sistemas,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necesitamos</a:t>
            </a:r>
            <a:r>
              <a:rPr sz="2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saber</a:t>
            </a:r>
            <a:r>
              <a:rPr sz="2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hacerlo</a:t>
            </a:r>
            <a:r>
              <a:rPr sz="2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2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trabajar</a:t>
            </a:r>
            <a:r>
              <a:rPr sz="2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proyectos</a:t>
            </a:r>
            <a:r>
              <a:rPr sz="2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reales,</a:t>
            </a:r>
            <a:r>
              <a:rPr sz="2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sin</a:t>
            </a:r>
            <a:r>
              <a:rPr sz="2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miedo</a:t>
            </a:r>
            <a:r>
              <a:rPr sz="2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perder</a:t>
            </a:r>
            <a:r>
              <a:rPr sz="2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información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Windows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práctica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nos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enseña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particionar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2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disco</a:t>
            </a:r>
            <a:r>
              <a:rPr sz="2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hacer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espacios</a:t>
            </a:r>
            <a:r>
              <a:rPr sz="2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nuevos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como</a:t>
            </a:r>
            <a:r>
              <a:rPr sz="2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particiones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dicsco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instalar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sin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errores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agregar herramientas</a:t>
            </a: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como</a:t>
            </a: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PostgreSQL</a:t>
            </a: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MySQL,</a:t>
            </a:r>
            <a:r>
              <a:rPr sz="2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que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guardan</a:t>
            </a:r>
            <a:r>
              <a:rPr sz="2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2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forma</a:t>
            </a:r>
            <a:r>
              <a:rPr sz="2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segura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Paso</a:t>
            </a:r>
            <a:r>
              <a:rPr spc="345" dirty="0"/>
              <a:t> </a:t>
            </a:r>
            <a:r>
              <a:rPr dirty="0"/>
              <a:t>1</a:t>
            </a:r>
            <a:r>
              <a:rPr spc="350" dirty="0"/>
              <a:t> </a:t>
            </a:r>
            <a:r>
              <a:rPr spc="150" dirty="0"/>
              <a:t>Descargaremos</a:t>
            </a:r>
            <a:r>
              <a:rPr spc="345" dirty="0"/>
              <a:t> </a:t>
            </a:r>
            <a:r>
              <a:rPr spc="75" dirty="0"/>
              <a:t>la</a:t>
            </a:r>
            <a:r>
              <a:rPr spc="350" dirty="0"/>
              <a:t> </a:t>
            </a:r>
            <a:r>
              <a:rPr spc="130" dirty="0"/>
              <a:t>imagen</a:t>
            </a:r>
            <a:r>
              <a:rPr spc="350" dirty="0"/>
              <a:t> </a:t>
            </a:r>
            <a:r>
              <a:rPr spc="95" dirty="0"/>
              <a:t>ISO</a:t>
            </a:r>
            <a:r>
              <a:rPr spc="345" dirty="0"/>
              <a:t> </a:t>
            </a:r>
            <a:r>
              <a:rPr spc="70" dirty="0"/>
              <a:t>de</a:t>
            </a:r>
            <a:r>
              <a:rPr spc="350" dirty="0"/>
              <a:t> </a:t>
            </a:r>
            <a:r>
              <a:rPr spc="130" dirty="0"/>
              <a:t>Ubuntu</a:t>
            </a:r>
            <a:r>
              <a:rPr spc="350" dirty="0"/>
              <a:t> </a:t>
            </a:r>
            <a:r>
              <a:rPr spc="120" dirty="0"/>
              <a:t>linux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34400" y="3118218"/>
            <a:ext cx="7848600" cy="4311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800">
              <a:latin typeface="Times New Roman"/>
              <a:cs typeface="Times New Roman"/>
            </a:endParaRPr>
          </a:p>
          <a:p>
            <a:pPr marL="493395">
              <a:lnSpc>
                <a:spcPct val="100000"/>
              </a:lnSpc>
            </a:pPr>
            <a:r>
              <a:rPr sz="1800" spc="-25" dirty="0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095" y="3125711"/>
            <a:ext cx="8001406" cy="430331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09558" y="7825346"/>
            <a:ext cx="707072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esto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nos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dirijimos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pagina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Arial"/>
                <a:cs typeface="Arial"/>
              </a:rPr>
              <a:t>web:</a:t>
            </a:r>
            <a:r>
              <a:rPr sz="1800" spc="500" dirty="0">
                <a:solidFill>
                  <a:srgbClr val="FFFFFF"/>
                </a:solidFill>
                <a:latin typeface="Arial"/>
                <a:cs typeface="Arial"/>
              </a:rPr>
              <a:t>                </a:t>
            </a:r>
            <a:r>
              <a:rPr sz="1800" u="sng" spc="8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3"/>
              </a:rPr>
              <a:t>ht</a:t>
            </a:r>
            <a:r>
              <a:rPr sz="1800" spc="-325" dirty="0">
                <a:solidFill>
                  <a:srgbClr val="0000FF"/>
                </a:solidFill>
                <a:latin typeface="Arial"/>
                <a:cs typeface="Arial"/>
                <a:hlinkClick r:id="rId3"/>
              </a:rPr>
              <a:t> </a:t>
            </a:r>
            <a:r>
              <a:rPr sz="1800" u="sng" spc="1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3"/>
              </a:rPr>
              <a:t>tps:</a:t>
            </a:r>
            <a:r>
              <a:rPr sz="1800" spc="-325" dirty="0">
                <a:solidFill>
                  <a:srgbClr val="0000FF"/>
                </a:solidFill>
                <a:latin typeface="Arial"/>
                <a:cs typeface="Arial"/>
                <a:hlinkClick r:id="rId3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3"/>
              </a:rPr>
              <a:t>/</a:t>
            </a:r>
            <a:r>
              <a:rPr sz="1800" spc="-325" dirty="0">
                <a:solidFill>
                  <a:srgbClr val="0000FF"/>
                </a:solidFill>
                <a:latin typeface="Arial"/>
                <a:cs typeface="Arial"/>
                <a:hlinkClick r:id="rId3"/>
              </a:rPr>
              <a:t> </a:t>
            </a:r>
            <a:r>
              <a:rPr sz="1800" u="sng" spc="1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3"/>
              </a:rPr>
              <a:t>/ubuntu.com/download</a:t>
            </a:r>
            <a:r>
              <a:rPr sz="1800" spc="3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selecionamos</a:t>
            </a:r>
            <a:r>
              <a:rPr sz="1800" spc="3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spc="3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opción</a:t>
            </a:r>
            <a:r>
              <a:rPr sz="1800" spc="3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135" dirty="0">
                <a:solidFill>
                  <a:srgbClr val="FFFFFF"/>
                </a:solidFill>
                <a:latin typeface="Arial"/>
                <a:cs typeface="Arial"/>
              </a:rPr>
              <a:t>DESKOP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presionamos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5" dirty="0">
                <a:solidFill>
                  <a:srgbClr val="FFFFFF"/>
                </a:solidFill>
                <a:latin typeface="Arial"/>
                <a:cs typeface="Arial"/>
              </a:rPr>
              <a:t>boton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0" dirty="0">
                <a:solidFill>
                  <a:srgbClr val="FFFFFF"/>
                </a:solidFill>
                <a:latin typeface="Arial"/>
                <a:cs typeface="Arial"/>
              </a:rPr>
              <a:t>verde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34400" y="3118218"/>
            <a:ext cx="7848600" cy="43107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411247" y="8292451"/>
            <a:ext cx="6173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aquí</a:t>
            </a:r>
            <a:r>
              <a:rPr sz="1800" spc="3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5" dirty="0">
                <a:solidFill>
                  <a:srgbClr val="FFFFFF"/>
                </a:solidFill>
                <a:latin typeface="Arial"/>
                <a:cs typeface="Arial"/>
              </a:rPr>
              <a:t>seleccionamos:</a:t>
            </a:r>
            <a:r>
              <a:rPr sz="1800" spc="3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60" dirty="0">
                <a:latin typeface="Microsoft Sans Serif"/>
                <a:cs typeface="Microsoft Sans Serif"/>
              </a:rPr>
              <a:t>Intel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spc="70" dirty="0">
                <a:latin typeface="Microsoft Sans Serif"/>
                <a:cs typeface="Microsoft Sans Serif"/>
              </a:rPr>
              <a:t>or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AMD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spc="50" dirty="0">
                <a:latin typeface="Microsoft Sans Serif"/>
                <a:cs typeface="Microsoft Sans Serif"/>
              </a:rPr>
              <a:t>64-</a:t>
            </a:r>
            <a:r>
              <a:rPr sz="1800" dirty="0">
                <a:latin typeface="Microsoft Sans Serif"/>
                <a:cs typeface="Microsoft Sans Serif"/>
              </a:rPr>
              <a:t>bit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architecture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11247" y="8831295"/>
            <a:ext cx="2498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damos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click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descargar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5" dirty="0"/>
              <a:t>´Paso</a:t>
            </a:r>
            <a:r>
              <a:rPr spc="355" dirty="0"/>
              <a:t> </a:t>
            </a:r>
            <a:r>
              <a:rPr spc="70" dirty="0"/>
              <a:t>2:</a:t>
            </a:r>
            <a:r>
              <a:rPr spc="360" dirty="0"/>
              <a:t> </a:t>
            </a:r>
            <a:r>
              <a:rPr spc="135" dirty="0"/>
              <a:t>Hacemos</a:t>
            </a:r>
            <a:r>
              <a:rPr spc="360" dirty="0"/>
              <a:t> </a:t>
            </a:r>
            <a:r>
              <a:rPr spc="105" dirty="0"/>
              <a:t>las</a:t>
            </a:r>
            <a:r>
              <a:rPr spc="355" dirty="0"/>
              <a:t> </a:t>
            </a:r>
            <a:r>
              <a:rPr spc="145" dirty="0"/>
              <a:t>particiones</a:t>
            </a:r>
            <a:r>
              <a:rPr spc="360" dirty="0"/>
              <a:t> </a:t>
            </a:r>
            <a:r>
              <a:rPr spc="100" dirty="0"/>
              <a:t>del</a:t>
            </a:r>
            <a:r>
              <a:rPr spc="360" dirty="0"/>
              <a:t> </a:t>
            </a:r>
            <a:r>
              <a:rPr spc="130" dirty="0"/>
              <a:t>disco</a:t>
            </a:r>
            <a:r>
              <a:rPr spc="360" dirty="0"/>
              <a:t> </a:t>
            </a:r>
            <a:r>
              <a:rPr spc="95" dirty="0"/>
              <a:t>duro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9558" y="7825346"/>
            <a:ext cx="643572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esto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presionamos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Windows+x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damos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administrador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discos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esto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nos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5" dirty="0">
                <a:solidFill>
                  <a:srgbClr val="FFFFFF"/>
                </a:solidFill>
                <a:latin typeface="Arial"/>
                <a:cs typeface="Arial"/>
              </a:rPr>
              <a:t>abrirá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una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5" dirty="0">
                <a:solidFill>
                  <a:srgbClr val="FFFFFF"/>
                </a:solidFill>
                <a:latin typeface="Arial"/>
                <a:cs typeface="Arial"/>
              </a:rPr>
              <a:t>ventana donde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veremos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las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particiones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tenemos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1247" y="8287016"/>
            <a:ext cx="88252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Al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darle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veremos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una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partición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1800" spc="-3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5" dirty="0">
                <a:solidFill>
                  <a:srgbClr val="FFFFFF"/>
                </a:solidFill>
                <a:latin typeface="Arial"/>
                <a:cs typeface="Arial"/>
              </a:rPr>
              <a:t>lamada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5" dirty="0">
                <a:solidFill>
                  <a:srgbClr val="FFFFFF"/>
                </a:solidFill>
                <a:latin typeface="Arial"/>
                <a:cs typeface="Arial"/>
              </a:rPr>
              <a:t>Windows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0" dirty="0">
                <a:solidFill>
                  <a:srgbClr val="FFFFFF"/>
                </a:solidFill>
                <a:latin typeface="Arial"/>
                <a:cs typeface="Arial"/>
              </a:rPr>
              <a:t>SSID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damos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click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derecho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sobre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ella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presionamos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reducir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volumen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975" y="2705100"/>
            <a:ext cx="8721775" cy="49040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97009" y="2531186"/>
            <a:ext cx="8846413" cy="49740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5" dirty="0"/>
              <a:t>´Paso</a:t>
            </a:r>
            <a:r>
              <a:rPr spc="355" dirty="0"/>
              <a:t> </a:t>
            </a:r>
            <a:r>
              <a:rPr spc="70" dirty="0"/>
              <a:t>2:</a:t>
            </a:r>
            <a:r>
              <a:rPr spc="360" dirty="0"/>
              <a:t> </a:t>
            </a:r>
            <a:r>
              <a:rPr spc="135" dirty="0"/>
              <a:t>Hacemos</a:t>
            </a:r>
            <a:r>
              <a:rPr spc="360" dirty="0"/>
              <a:t> </a:t>
            </a:r>
            <a:r>
              <a:rPr spc="105" dirty="0"/>
              <a:t>las</a:t>
            </a:r>
            <a:r>
              <a:rPr spc="355" dirty="0"/>
              <a:t> </a:t>
            </a:r>
            <a:r>
              <a:rPr spc="145" dirty="0"/>
              <a:t>particiones</a:t>
            </a:r>
            <a:r>
              <a:rPr spc="360" dirty="0"/>
              <a:t> </a:t>
            </a:r>
            <a:r>
              <a:rPr spc="100" dirty="0"/>
              <a:t>del</a:t>
            </a:r>
            <a:r>
              <a:rPr spc="360" dirty="0"/>
              <a:t> </a:t>
            </a:r>
            <a:r>
              <a:rPr spc="130" dirty="0"/>
              <a:t>disco</a:t>
            </a:r>
            <a:r>
              <a:rPr spc="360" dirty="0"/>
              <a:t> </a:t>
            </a:r>
            <a:r>
              <a:rPr spc="95" dirty="0"/>
              <a:t>duro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9798" y="2139950"/>
            <a:ext cx="9589135" cy="539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55"/>
              </a:spcBef>
            </a:pPr>
            <a:endParaRPr sz="1800">
              <a:latin typeface="Times New Roman"/>
              <a:cs typeface="Times New Roman"/>
            </a:endParaRPr>
          </a:p>
          <a:p>
            <a:pPr marR="720725" algn="r">
              <a:lnSpc>
                <a:spcPct val="100000"/>
              </a:lnSpc>
            </a:pPr>
            <a:r>
              <a:rPr sz="1800" spc="-25" dirty="0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9558" y="7825346"/>
            <a:ext cx="67246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Al</a:t>
            </a:r>
            <a:r>
              <a:rPr sz="1800" spc="3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dar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nos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saldrá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siguiente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ventana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nos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ubicamos</a:t>
            </a:r>
            <a:r>
              <a:rPr sz="1800" spc="3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opción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5" dirty="0">
                <a:solidFill>
                  <a:srgbClr val="FFFFFF"/>
                </a:solidFill>
                <a:latin typeface="Arial"/>
                <a:cs typeface="Arial"/>
              </a:rPr>
              <a:t>tamaño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espacio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al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que </a:t>
            </a:r>
            <a:r>
              <a:rPr sz="1800" spc="135" dirty="0">
                <a:solidFill>
                  <a:srgbClr val="FFFFFF"/>
                </a:solidFill>
                <a:latin typeface="Arial"/>
                <a:cs typeface="Arial"/>
              </a:rPr>
              <a:t>desea</a:t>
            </a:r>
            <a:r>
              <a:rPr sz="1800" spc="3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reducir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le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asignaremos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50</a:t>
            </a:r>
            <a:r>
              <a:rPr sz="1800" spc="-3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gb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damos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reducir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57128" y="7481278"/>
            <a:ext cx="4739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se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mostrara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partición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5" dirty="0">
                <a:solidFill>
                  <a:srgbClr val="FFFFFF"/>
                </a:solidFill>
                <a:latin typeface="Arial"/>
                <a:cs typeface="Arial"/>
              </a:rPr>
              <a:t>asignada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9798" y="2139950"/>
            <a:ext cx="9588982" cy="53916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34600" y="2538196"/>
            <a:ext cx="7517091" cy="45951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Paso</a:t>
            </a:r>
            <a:r>
              <a:rPr spc="360" dirty="0"/>
              <a:t> </a:t>
            </a:r>
            <a:r>
              <a:rPr spc="70" dirty="0"/>
              <a:t>3:</a:t>
            </a:r>
            <a:r>
              <a:rPr spc="360" dirty="0"/>
              <a:t> </a:t>
            </a:r>
            <a:r>
              <a:rPr spc="145" dirty="0"/>
              <a:t>Descargamos</a:t>
            </a:r>
            <a:r>
              <a:rPr spc="360" dirty="0"/>
              <a:t> </a:t>
            </a:r>
            <a:r>
              <a:rPr spc="125" dirty="0"/>
              <a:t>Rufus</a:t>
            </a:r>
            <a:r>
              <a:rPr spc="360" dirty="0"/>
              <a:t> </a:t>
            </a:r>
            <a:r>
              <a:rPr dirty="0"/>
              <a:t>y</a:t>
            </a:r>
            <a:r>
              <a:rPr spc="360" dirty="0"/>
              <a:t> </a:t>
            </a:r>
            <a:r>
              <a:rPr spc="140" dirty="0"/>
              <a:t>preparamos</a:t>
            </a:r>
            <a:r>
              <a:rPr spc="365" dirty="0"/>
              <a:t> </a:t>
            </a:r>
            <a:r>
              <a:rPr spc="75" dirty="0"/>
              <a:t>la</a:t>
            </a:r>
            <a:r>
              <a:rPr spc="360" dirty="0"/>
              <a:t> </a:t>
            </a:r>
            <a:r>
              <a:rPr spc="135" dirty="0"/>
              <a:t>memoria</a:t>
            </a:r>
            <a:r>
              <a:rPr spc="360" dirty="0"/>
              <a:t> </a:t>
            </a:r>
            <a:r>
              <a:rPr spc="100" dirty="0"/>
              <a:t>con</a:t>
            </a:r>
            <a:r>
              <a:rPr spc="360" dirty="0"/>
              <a:t> </a:t>
            </a:r>
            <a:r>
              <a:rPr spc="75" dirty="0"/>
              <a:t>la</a:t>
            </a:r>
            <a:r>
              <a:rPr spc="360" dirty="0"/>
              <a:t> </a:t>
            </a:r>
            <a:r>
              <a:rPr spc="70" dirty="0"/>
              <a:t>ISO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9558" y="7825346"/>
            <a:ext cx="67437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1800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obtener</a:t>
            </a:r>
            <a:r>
              <a:rPr sz="1800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70" dirty="0">
                <a:solidFill>
                  <a:srgbClr val="FFFFFF"/>
                </a:solidFill>
                <a:latin typeface="Arial"/>
                <a:cs typeface="Arial"/>
              </a:rPr>
              <a:t>Rufu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800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70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800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dirigimos</a:t>
            </a:r>
            <a:r>
              <a:rPr sz="1800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siguiente</a:t>
            </a:r>
            <a:r>
              <a:rPr sz="1800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pagina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Arial"/>
                <a:cs typeface="Arial"/>
              </a:rPr>
              <a:t>web</a:t>
            </a:r>
            <a:r>
              <a:rPr sz="1800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800" spc="-3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70" dirty="0">
                <a:solidFill>
                  <a:srgbClr val="FFFFFF"/>
                </a:solidFill>
                <a:latin typeface="Arial"/>
                <a:cs typeface="Arial"/>
              </a:rPr>
              <a:t>https:/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1800" spc="-3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rufus.</a:t>
            </a:r>
            <a:r>
              <a:rPr sz="1800" spc="-3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ie/</a:t>
            </a:r>
            <a:r>
              <a:rPr sz="1800" spc="-3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70" dirty="0">
                <a:solidFill>
                  <a:srgbClr val="FFFFFF"/>
                </a:solidFill>
                <a:latin typeface="Arial"/>
                <a:cs typeface="Arial"/>
              </a:rPr>
              <a:t>es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1800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descargamos</a:t>
            </a:r>
            <a:r>
              <a:rPr sz="1800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versión</a:t>
            </a:r>
            <a:r>
              <a:rPr sz="1800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Windowsx</a:t>
            </a:r>
            <a:r>
              <a:rPr sz="1800" spc="-3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7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83307" y="8516658"/>
            <a:ext cx="887222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Tendremos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conectar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una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Usb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sea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16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gb(</a:t>
            </a:r>
            <a:r>
              <a:rPr sz="1800" spc="-3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usb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conectada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Arial"/>
                <a:cs typeface="Arial"/>
              </a:rPr>
              <a:t>es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un</a:t>
            </a:r>
            <a:r>
              <a:rPr sz="1800" spc="3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ejemplo)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adelante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agregar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ISO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ubunntu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ejecutamos </a:t>
            </a:r>
            <a:r>
              <a:rPr sz="1800" spc="135" dirty="0">
                <a:solidFill>
                  <a:srgbClr val="FFFFFF"/>
                </a:solidFill>
                <a:latin typeface="Arial"/>
                <a:cs typeface="Arial"/>
              </a:rPr>
              <a:t>Rufus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automatico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nos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detecta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usb,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ahora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cargaremos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ISO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nos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ubicamos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Eleccion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arranque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5" dirty="0">
                <a:solidFill>
                  <a:srgbClr val="FFFFFF"/>
                </a:solidFill>
                <a:latin typeface="Arial"/>
                <a:cs typeface="Arial"/>
              </a:rPr>
              <a:t>seleccionamos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ISO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disco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ahora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cargaremos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nuestro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archivo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ISO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seleccionar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escogemos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ISO </a:t>
            </a:r>
            <a:r>
              <a:rPr sz="1800" spc="135" dirty="0">
                <a:solidFill>
                  <a:srgbClr val="FFFFFF"/>
                </a:solidFill>
                <a:latin typeface="Arial"/>
                <a:cs typeface="Arial"/>
              </a:rPr>
              <a:t>Ubuntu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damos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Empezar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esperamos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cargue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ya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estaría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1800" spc="-3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Arial"/>
                <a:cs typeface="Arial"/>
              </a:rPr>
              <a:t>ista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59546"/>
            <a:ext cx="8534400" cy="478975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0316" y="752718"/>
            <a:ext cx="7010400" cy="39417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69106" y="4878260"/>
            <a:ext cx="5562600" cy="31276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5" dirty="0"/>
              <a:t>´Paso</a:t>
            </a:r>
            <a:r>
              <a:rPr spc="350" dirty="0"/>
              <a:t> </a:t>
            </a:r>
            <a:r>
              <a:rPr spc="70" dirty="0"/>
              <a:t>4:</a:t>
            </a:r>
            <a:r>
              <a:rPr spc="350" dirty="0"/>
              <a:t> </a:t>
            </a:r>
            <a:r>
              <a:rPr spc="140" dirty="0"/>
              <a:t>Entramos</a:t>
            </a:r>
            <a:r>
              <a:rPr spc="350" dirty="0"/>
              <a:t> </a:t>
            </a:r>
            <a:r>
              <a:rPr dirty="0"/>
              <a:t>a</a:t>
            </a:r>
            <a:r>
              <a:rPr spc="350" dirty="0"/>
              <a:t> </a:t>
            </a:r>
            <a:r>
              <a:rPr spc="75" dirty="0"/>
              <a:t>la</a:t>
            </a:r>
            <a:r>
              <a:rPr spc="350" dirty="0"/>
              <a:t> </a:t>
            </a:r>
            <a:r>
              <a:rPr spc="114" dirty="0"/>
              <a:t>Bios</a:t>
            </a:r>
            <a:r>
              <a:rPr spc="350" dirty="0"/>
              <a:t> </a:t>
            </a:r>
            <a:r>
              <a:rPr dirty="0"/>
              <a:t>y</a:t>
            </a:r>
            <a:r>
              <a:rPr spc="350" dirty="0"/>
              <a:t> </a:t>
            </a:r>
            <a:r>
              <a:rPr spc="125" dirty="0"/>
              <a:t>damos</a:t>
            </a:r>
            <a:r>
              <a:rPr spc="350" dirty="0"/>
              <a:t> </a:t>
            </a:r>
            <a:r>
              <a:rPr spc="70" dirty="0"/>
              <a:t>en</a:t>
            </a:r>
            <a:r>
              <a:rPr spc="350" dirty="0"/>
              <a:t> </a:t>
            </a:r>
            <a:r>
              <a:rPr spc="140" dirty="0"/>
              <a:t>arrancar</a:t>
            </a:r>
            <a:r>
              <a:rPr spc="350" dirty="0"/>
              <a:t> </a:t>
            </a:r>
            <a:r>
              <a:rPr spc="75" dirty="0"/>
              <a:t>USB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24404" y="2492133"/>
            <a:ext cx="8754110" cy="4384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1800">
              <a:latin typeface="Times New Roman"/>
              <a:cs typeface="Times New Roman"/>
            </a:endParaRPr>
          </a:p>
          <a:p>
            <a:pPr marL="103505">
              <a:lnSpc>
                <a:spcPct val="100000"/>
              </a:lnSpc>
            </a:pPr>
            <a:r>
              <a:rPr sz="1800" spc="-25" dirty="0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7436091"/>
            <a:ext cx="7013575" cy="194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Ahora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teniendo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conectada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USB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reiniciamos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nuestra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computadora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presionamos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1800" spc="-3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este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caso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entraríamos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Bios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lap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ya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solo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nos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5" dirty="0">
                <a:solidFill>
                  <a:srgbClr val="FFFFFF"/>
                </a:solidFill>
                <a:latin typeface="Arial"/>
                <a:cs typeface="Arial"/>
              </a:rPr>
              <a:t>moveremos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1800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las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feclas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teclado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nos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ubicaremos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Arial"/>
                <a:cs typeface="Arial"/>
              </a:rPr>
              <a:t>el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apartado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Boot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veremos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nos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muestra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dos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arranques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155" dirty="0">
                <a:solidFill>
                  <a:srgbClr val="FFFFFF"/>
                </a:solidFill>
                <a:latin typeface="Arial"/>
                <a:cs typeface="Arial"/>
              </a:rPr>
              <a:t>seleccionamos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Arial"/>
                <a:cs typeface="Arial"/>
              </a:rPr>
              <a:t>EFI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USB</a:t>
            </a:r>
            <a:r>
              <a:rPr sz="1800" spc="-3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Arial"/>
                <a:cs typeface="Arial"/>
              </a:rPr>
              <a:t>ETC…</a:t>
            </a:r>
            <a:r>
              <a:rPr sz="1800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damos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enter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Arial"/>
                <a:cs typeface="Arial"/>
              </a:rPr>
              <a:t>se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arrancaría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Ubuntu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57128" y="7223874"/>
            <a:ext cx="608076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Al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iniciar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nos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aparecerá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lo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Siguiente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155" dirty="0">
                <a:solidFill>
                  <a:srgbClr val="FFFFFF"/>
                </a:solidFill>
                <a:latin typeface="Arial"/>
                <a:cs typeface="Arial"/>
              </a:rPr>
              <a:t>seleccionamos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primera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opción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daremos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0" dirty="0">
                <a:solidFill>
                  <a:srgbClr val="FFFFFF"/>
                </a:solidFill>
                <a:latin typeface="Arial"/>
                <a:cs typeface="Arial"/>
              </a:rPr>
              <a:t>enter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esperamos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cargue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Ubuntu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2628900"/>
            <a:ext cx="8156600" cy="421218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24404" y="2492133"/>
            <a:ext cx="8753995" cy="43838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5" dirty="0"/>
              <a:t>´Paso</a:t>
            </a:r>
            <a:r>
              <a:rPr spc="355" dirty="0"/>
              <a:t> </a:t>
            </a:r>
            <a:r>
              <a:rPr spc="70" dirty="0"/>
              <a:t>5:</a:t>
            </a:r>
            <a:r>
              <a:rPr spc="355" dirty="0"/>
              <a:t> </a:t>
            </a:r>
            <a:r>
              <a:rPr spc="145" dirty="0"/>
              <a:t>Configuración</a:t>
            </a:r>
            <a:r>
              <a:rPr spc="355" dirty="0"/>
              <a:t> </a:t>
            </a:r>
            <a:r>
              <a:rPr spc="70" dirty="0"/>
              <a:t>de</a:t>
            </a:r>
            <a:r>
              <a:rPr spc="360" dirty="0"/>
              <a:t> </a:t>
            </a:r>
            <a:r>
              <a:rPr spc="130" dirty="0"/>
              <a:t>Ubuntu</a:t>
            </a:r>
            <a:r>
              <a:rPr spc="355" dirty="0"/>
              <a:t> </a:t>
            </a:r>
            <a:r>
              <a:rPr dirty="0"/>
              <a:t>y</a:t>
            </a:r>
            <a:r>
              <a:rPr spc="355" dirty="0"/>
              <a:t> </a:t>
            </a:r>
            <a:r>
              <a:rPr spc="135" dirty="0"/>
              <a:t>instalacion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94246" y="4350016"/>
            <a:ext cx="5916295" cy="3070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1800">
              <a:latin typeface="Times New Roman"/>
              <a:cs typeface="Times New Roman"/>
            </a:endParaRPr>
          </a:p>
          <a:p>
            <a:pPr marR="1008380" algn="ctr">
              <a:lnSpc>
                <a:spcPct val="100000"/>
              </a:lnSpc>
            </a:pPr>
            <a:r>
              <a:rPr sz="1800" spc="-25" dirty="0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1034" y="7502194"/>
            <a:ext cx="50285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800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este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apartado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Vamos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seleccionar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opción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instalar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ubuntu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61339" y="7504163"/>
            <a:ext cx="4657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Aquí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5" dirty="0">
                <a:solidFill>
                  <a:srgbClr val="FFFFFF"/>
                </a:solidFill>
                <a:latin typeface="Arial"/>
                <a:cs typeface="Arial"/>
              </a:rPr>
              <a:t>seleccionamos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primera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opción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990418"/>
            <a:ext cx="5687390" cy="296965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25094" y="938362"/>
            <a:ext cx="5654052" cy="29805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609994" y="1020046"/>
            <a:ext cx="5678004" cy="29805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5453" y="4282579"/>
            <a:ext cx="5820143" cy="30298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94246" y="4350016"/>
            <a:ext cx="5915748" cy="307039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03251" y="4466691"/>
            <a:ext cx="5484749" cy="298052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171240" y="8832786"/>
            <a:ext cx="88614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Aquí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básicamente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le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daremos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5" dirty="0">
                <a:solidFill>
                  <a:srgbClr val="FFFFFF"/>
                </a:solidFill>
                <a:latin typeface="Arial"/>
                <a:cs typeface="Arial"/>
              </a:rPr>
              <a:t>todas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las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pantallas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siguiente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5" dirty="0">
                <a:solidFill>
                  <a:srgbClr val="FFFFFF"/>
                </a:solidFill>
                <a:latin typeface="Arial"/>
                <a:cs typeface="Arial"/>
              </a:rPr>
              <a:t>algunas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configurar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idio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otros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teclado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nos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conectamos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una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red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wif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5" dirty="0"/>
              <a:t>´Paso</a:t>
            </a:r>
            <a:r>
              <a:rPr spc="355" dirty="0"/>
              <a:t> </a:t>
            </a:r>
            <a:r>
              <a:rPr spc="70" dirty="0"/>
              <a:t>5:</a:t>
            </a:r>
            <a:r>
              <a:rPr spc="355" dirty="0"/>
              <a:t> </a:t>
            </a:r>
            <a:r>
              <a:rPr spc="145" dirty="0"/>
              <a:t>Configuración</a:t>
            </a:r>
            <a:r>
              <a:rPr spc="355" dirty="0"/>
              <a:t> </a:t>
            </a:r>
            <a:r>
              <a:rPr spc="70" dirty="0"/>
              <a:t>de</a:t>
            </a:r>
            <a:r>
              <a:rPr spc="360" dirty="0"/>
              <a:t> </a:t>
            </a:r>
            <a:r>
              <a:rPr spc="130" dirty="0"/>
              <a:t>Ubuntu</a:t>
            </a:r>
            <a:r>
              <a:rPr spc="355" dirty="0"/>
              <a:t> </a:t>
            </a:r>
            <a:r>
              <a:rPr dirty="0"/>
              <a:t>y</a:t>
            </a:r>
            <a:r>
              <a:rPr spc="355" dirty="0"/>
              <a:t> </a:t>
            </a:r>
            <a:r>
              <a:rPr spc="135" dirty="0"/>
              <a:t>instalacion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7939" y="7001065"/>
            <a:ext cx="692150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este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apartado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es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importante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por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si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escogemos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opción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inmedio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borraremos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nuestro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5" dirty="0">
                <a:solidFill>
                  <a:srgbClr val="FFFFFF"/>
                </a:solidFill>
                <a:latin typeface="Arial"/>
                <a:cs typeface="Arial"/>
              </a:rPr>
              <a:t>Windows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pero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este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caso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queremos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eso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entonces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5" dirty="0">
                <a:solidFill>
                  <a:srgbClr val="FFFFFF"/>
                </a:solidFill>
                <a:latin typeface="Arial"/>
                <a:cs typeface="Arial"/>
              </a:rPr>
              <a:t>seleccionamos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tercera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opción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ya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nosotros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hemos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designado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forma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5" dirty="0">
                <a:solidFill>
                  <a:srgbClr val="FFFFFF"/>
                </a:solidFill>
                <a:latin typeface="Arial"/>
                <a:cs typeface="Arial"/>
              </a:rPr>
              <a:t>manual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espacio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5" dirty="0">
                <a:solidFill>
                  <a:srgbClr val="FFFFFF"/>
                </a:solidFill>
                <a:latin typeface="Arial"/>
                <a:cs typeface="Arial"/>
              </a:rPr>
              <a:t>donde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instalaremos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57128" y="7223874"/>
            <a:ext cx="613791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Aca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nos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aparece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discos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tenemos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disponibles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las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particiones</a:t>
            </a:r>
            <a:r>
              <a:rPr sz="1800" spc="3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entonces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usacmos</a:t>
            </a:r>
            <a:r>
              <a:rPr sz="1800" spc="3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partición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hicimos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1800" spc="-3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5" dirty="0">
                <a:solidFill>
                  <a:srgbClr val="FFFFFF"/>
                </a:solidFill>
                <a:latin typeface="Arial"/>
                <a:cs typeface="Arial"/>
              </a:rPr>
              <a:t>lamado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espacio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1800" spc="-3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Arial"/>
                <a:cs typeface="Arial"/>
              </a:rPr>
              <a:t>ibre </a:t>
            </a:r>
            <a:r>
              <a:rPr sz="1800" spc="155" dirty="0">
                <a:solidFill>
                  <a:srgbClr val="FFFFFF"/>
                </a:solidFill>
                <a:latin typeface="Arial"/>
                <a:cs typeface="Arial"/>
              </a:rPr>
              <a:t>seleccionamos</a:t>
            </a:r>
            <a:r>
              <a:rPr sz="1800" spc="3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damos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clisk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696" y="2324100"/>
            <a:ext cx="7826502" cy="40947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23399" y="2541625"/>
            <a:ext cx="7442542" cy="38980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5" dirty="0"/>
              <a:t>´Paso</a:t>
            </a:r>
            <a:r>
              <a:rPr spc="355" dirty="0"/>
              <a:t> </a:t>
            </a:r>
            <a:r>
              <a:rPr spc="70" dirty="0"/>
              <a:t>5:</a:t>
            </a:r>
            <a:r>
              <a:rPr spc="355" dirty="0"/>
              <a:t> </a:t>
            </a:r>
            <a:r>
              <a:rPr spc="145" dirty="0"/>
              <a:t>Configuración</a:t>
            </a:r>
            <a:r>
              <a:rPr spc="355" dirty="0"/>
              <a:t> </a:t>
            </a:r>
            <a:r>
              <a:rPr spc="70" dirty="0"/>
              <a:t>de</a:t>
            </a:r>
            <a:r>
              <a:rPr spc="360" dirty="0"/>
              <a:t> </a:t>
            </a:r>
            <a:r>
              <a:rPr spc="130" dirty="0"/>
              <a:t>Ubuntu</a:t>
            </a:r>
            <a:r>
              <a:rPr spc="355" dirty="0"/>
              <a:t> </a:t>
            </a:r>
            <a:r>
              <a:rPr dirty="0"/>
              <a:t>y</a:t>
            </a:r>
            <a:r>
              <a:rPr spc="355" dirty="0"/>
              <a:t> </a:t>
            </a:r>
            <a:r>
              <a:rPr spc="135" dirty="0"/>
              <a:t>instalacion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4914" y="7223874"/>
            <a:ext cx="62992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primera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partcion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le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agregaremos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5" dirty="0">
                <a:solidFill>
                  <a:srgbClr val="FFFFFF"/>
                </a:solidFill>
                <a:latin typeface="Arial"/>
                <a:cs typeface="Arial"/>
              </a:rPr>
              <a:t>20000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gb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Arial"/>
                <a:cs typeface="Arial"/>
              </a:rPr>
              <a:t>le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colocamos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Arial"/>
                <a:cs typeface="Arial"/>
              </a:rPr>
              <a:t>EXT</a:t>
            </a:r>
            <a:r>
              <a:rPr sz="1800" spc="-3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5" dirty="0">
                <a:solidFill>
                  <a:srgbClr val="FFFFFF"/>
                </a:solidFill>
                <a:latin typeface="Arial"/>
                <a:cs typeface="Arial"/>
              </a:rPr>
              <a:t>seleccionamos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barra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que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representa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Arial"/>
                <a:cs typeface="Arial"/>
              </a:rPr>
              <a:t>raiz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57128" y="7223874"/>
            <a:ext cx="61194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segunda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partición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es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swap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es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0" dirty="0">
                <a:solidFill>
                  <a:srgbClr val="FFFFFF"/>
                </a:solidFill>
                <a:latin typeface="Arial"/>
                <a:cs typeface="Arial"/>
              </a:rPr>
              <a:t>como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una </a:t>
            </a:r>
            <a:r>
              <a:rPr sz="1800" spc="100" dirty="0">
                <a:solidFill>
                  <a:srgbClr val="FFFFFF"/>
                </a:solidFill>
                <a:latin typeface="Arial"/>
                <a:cs typeface="Arial"/>
              </a:rPr>
              <a:t>mem</a:t>
            </a:r>
            <a:r>
              <a:rPr sz="1800" spc="-3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800" spc="-3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800" spc="-3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ia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virtual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escogemos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8000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gb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lo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0" dirty="0">
                <a:solidFill>
                  <a:srgbClr val="FFFFFF"/>
                </a:solidFill>
                <a:latin typeface="Arial"/>
                <a:cs typeface="Arial"/>
              </a:rPr>
              <a:t>demás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lo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dejamos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blanco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884" y="2194217"/>
            <a:ext cx="8487727" cy="440088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18357" y="2194217"/>
            <a:ext cx="8166061" cy="42553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5" dirty="0"/>
              <a:t>´Paso</a:t>
            </a:r>
            <a:r>
              <a:rPr spc="355" dirty="0"/>
              <a:t> </a:t>
            </a:r>
            <a:r>
              <a:rPr spc="70" dirty="0"/>
              <a:t>5:</a:t>
            </a:r>
            <a:r>
              <a:rPr spc="355" dirty="0"/>
              <a:t> </a:t>
            </a:r>
            <a:r>
              <a:rPr spc="145" dirty="0"/>
              <a:t>Configuración</a:t>
            </a:r>
            <a:r>
              <a:rPr spc="355" dirty="0"/>
              <a:t> </a:t>
            </a:r>
            <a:r>
              <a:rPr spc="70" dirty="0"/>
              <a:t>de</a:t>
            </a:r>
            <a:r>
              <a:rPr spc="360" dirty="0"/>
              <a:t> </a:t>
            </a:r>
            <a:r>
              <a:rPr spc="130" dirty="0"/>
              <a:t>Ubuntu</a:t>
            </a:r>
            <a:r>
              <a:rPr spc="355" dirty="0"/>
              <a:t> </a:t>
            </a:r>
            <a:r>
              <a:rPr dirty="0"/>
              <a:t>y</a:t>
            </a:r>
            <a:r>
              <a:rPr spc="355" dirty="0"/>
              <a:t> </a:t>
            </a:r>
            <a:r>
              <a:rPr spc="135" dirty="0"/>
              <a:t>instalacion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/>
          </a:p>
          <a:p>
            <a:pPr marL="796925">
              <a:lnSpc>
                <a:spcPct val="100000"/>
              </a:lnSpc>
            </a:pPr>
            <a:r>
              <a:rPr spc="-25" dirty="0"/>
              <a:t>03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6789661"/>
            <a:ext cx="69627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tercera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partición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es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0" dirty="0">
                <a:solidFill>
                  <a:srgbClr val="FFFFFF"/>
                </a:solidFill>
                <a:latin typeface="Arial"/>
                <a:cs typeface="Arial"/>
              </a:rPr>
              <a:t>home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5" dirty="0">
                <a:solidFill>
                  <a:srgbClr val="FFFFFF"/>
                </a:solidFill>
                <a:latin typeface="Arial"/>
                <a:cs typeface="Arial"/>
              </a:rPr>
              <a:t>donde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se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guarda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archivos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5" dirty="0">
                <a:solidFill>
                  <a:srgbClr val="FFFFFF"/>
                </a:solidFill>
                <a:latin typeface="Arial"/>
                <a:cs typeface="Arial"/>
              </a:rPr>
              <a:t>fotos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etc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esta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dehamos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5" dirty="0">
                <a:solidFill>
                  <a:srgbClr val="FFFFFF"/>
                </a:solidFill>
                <a:latin typeface="Arial"/>
                <a:cs typeface="Arial"/>
              </a:rPr>
              <a:t>tamaño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que os</a:t>
            </a:r>
            <a:r>
              <a:rPr sz="1800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5" dirty="0">
                <a:solidFill>
                  <a:srgbClr val="FFFFFF"/>
                </a:solidFill>
                <a:latin typeface="Arial"/>
                <a:cs typeface="Arial"/>
              </a:rPr>
              <a:t>quedo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5" dirty="0">
                <a:solidFill>
                  <a:srgbClr val="FFFFFF"/>
                </a:solidFill>
                <a:latin typeface="Arial"/>
                <a:cs typeface="Arial"/>
              </a:rPr>
              <a:t>seleccionamos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1800" spc="-3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0" dirty="0">
                <a:solidFill>
                  <a:srgbClr val="FFFFFF"/>
                </a:solidFill>
                <a:latin typeface="Arial"/>
                <a:cs typeface="Arial"/>
              </a:rPr>
              <a:t>home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damos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800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siguiente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aceptar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57128" y="7223874"/>
            <a:ext cx="62617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Despues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nos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saldrá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esta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ventana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5" dirty="0">
                <a:solidFill>
                  <a:srgbClr val="FFFFFF"/>
                </a:solidFill>
                <a:latin typeface="Arial"/>
                <a:cs typeface="Arial"/>
              </a:rPr>
              <a:t>donde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creamos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nuestro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usuario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contrasela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damos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siguiente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324" y="2080298"/>
            <a:ext cx="7807998" cy="406878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31123" y="1590154"/>
            <a:ext cx="9259277" cy="47816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5" dirty="0"/>
              <a:t>´Paso</a:t>
            </a:r>
            <a:r>
              <a:rPr spc="355" dirty="0"/>
              <a:t> </a:t>
            </a:r>
            <a:r>
              <a:rPr spc="70" dirty="0"/>
              <a:t>5:</a:t>
            </a:r>
            <a:r>
              <a:rPr spc="355" dirty="0"/>
              <a:t> </a:t>
            </a:r>
            <a:r>
              <a:rPr spc="145" dirty="0"/>
              <a:t>Configuración</a:t>
            </a:r>
            <a:r>
              <a:rPr spc="355" dirty="0"/>
              <a:t> </a:t>
            </a:r>
            <a:r>
              <a:rPr spc="70" dirty="0"/>
              <a:t>de</a:t>
            </a:r>
            <a:r>
              <a:rPr spc="360" dirty="0"/>
              <a:t> </a:t>
            </a:r>
            <a:r>
              <a:rPr spc="130" dirty="0"/>
              <a:t>Ubuntu</a:t>
            </a:r>
            <a:r>
              <a:rPr spc="355" dirty="0"/>
              <a:t> </a:t>
            </a:r>
            <a:r>
              <a:rPr dirty="0"/>
              <a:t>y</a:t>
            </a:r>
            <a:r>
              <a:rPr spc="355" dirty="0"/>
              <a:t> </a:t>
            </a:r>
            <a:r>
              <a:rPr spc="135" dirty="0"/>
              <a:t>instalacion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6789661"/>
            <a:ext cx="66897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Ahora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nos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sale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un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resumen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lo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hicimos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0" dirty="0">
                <a:solidFill>
                  <a:srgbClr val="FFFFFF"/>
                </a:solidFill>
                <a:latin typeface="Arial"/>
                <a:cs typeface="Arial"/>
              </a:rPr>
              <a:t>damos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800" spc="3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instalar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esperamos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se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instale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38243" y="6345364"/>
            <a:ext cx="58051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cuando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se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termine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instalar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nos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pedirá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que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reiniciemos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damos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0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5017" y="1958632"/>
            <a:ext cx="8330742" cy="43585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2427" y="1635950"/>
            <a:ext cx="8531225" cy="4454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5" dirty="0"/>
              <a:t>´Paso</a:t>
            </a:r>
            <a:r>
              <a:rPr spc="355" dirty="0"/>
              <a:t> </a:t>
            </a:r>
            <a:r>
              <a:rPr spc="70" dirty="0"/>
              <a:t>5:</a:t>
            </a:r>
            <a:r>
              <a:rPr spc="355" dirty="0"/>
              <a:t> </a:t>
            </a:r>
            <a:r>
              <a:rPr spc="145" dirty="0"/>
              <a:t>Configuración</a:t>
            </a:r>
            <a:r>
              <a:rPr spc="355" dirty="0"/>
              <a:t> </a:t>
            </a:r>
            <a:r>
              <a:rPr spc="70" dirty="0"/>
              <a:t>de</a:t>
            </a:r>
            <a:r>
              <a:rPr spc="360" dirty="0"/>
              <a:t> </a:t>
            </a:r>
            <a:r>
              <a:rPr spc="130" dirty="0"/>
              <a:t>Ubuntu</a:t>
            </a:r>
            <a:r>
              <a:rPr spc="355" dirty="0"/>
              <a:t> </a:t>
            </a:r>
            <a:r>
              <a:rPr dirty="0"/>
              <a:t>y</a:t>
            </a:r>
            <a:r>
              <a:rPr spc="355" dirty="0"/>
              <a:t> </a:t>
            </a:r>
            <a:r>
              <a:rPr spc="135" dirty="0"/>
              <a:t>instalacion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2454" y="1707680"/>
            <a:ext cx="17188180" cy="4619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19"/>
              </a:spcBef>
            </a:pPr>
            <a:endParaRPr sz="1800">
              <a:latin typeface="Times New Roman"/>
              <a:cs typeface="Times New Roman"/>
            </a:endParaRPr>
          </a:p>
          <a:p>
            <a:pPr marR="556895" algn="ctr">
              <a:lnSpc>
                <a:spcPct val="100000"/>
              </a:lnSpc>
            </a:pPr>
            <a:r>
              <a:rPr sz="1800" spc="-25" dirty="0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6789661"/>
            <a:ext cx="704469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Al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reiniciar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nos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saldrá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0" dirty="0">
                <a:solidFill>
                  <a:srgbClr val="FFFFFF"/>
                </a:solidFill>
                <a:latin typeface="Arial"/>
                <a:cs typeface="Arial"/>
              </a:rPr>
              <a:t>menú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Grub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5" dirty="0">
                <a:solidFill>
                  <a:srgbClr val="FFFFFF"/>
                </a:solidFill>
                <a:latin typeface="Arial"/>
                <a:cs typeface="Arial"/>
              </a:rPr>
              <a:t>donde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vemos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que ya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esta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instalado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Ubuntu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tenemos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5" dirty="0">
                <a:solidFill>
                  <a:srgbClr val="FFFFFF"/>
                </a:solidFill>
                <a:latin typeface="Arial"/>
                <a:cs typeface="Arial"/>
              </a:rPr>
              <a:t>Windows</a:t>
            </a:r>
            <a:r>
              <a:rPr sz="1800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ya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Arial"/>
                <a:cs typeface="Arial"/>
              </a:rPr>
              <a:t>solo </a:t>
            </a:r>
            <a:r>
              <a:rPr sz="1800" spc="130" dirty="0">
                <a:solidFill>
                  <a:srgbClr val="FFFFFF"/>
                </a:solidFill>
                <a:latin typeface="Arial"/>
                <a:cs typeface="Arial"/>
              </a:rPr>
              <a:t>seria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seleccionar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sistema</a:t>
            </a:r>
            <a:r>
              <a:rPr sz="1800" spc="3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queremos</a:t>
            </a:r>
            <a:r>
              <a:rPr sz="18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35" dirty="0">
                <a:solidFill>
                  <a:srgbClr val="FFFFFF"/>
                </a:solidFill>
                <a:latin typeface="Arial"/>
                <a:cs typeface="Arial"/>
              </a:rPr>
              <a:t>ejecutar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76801" y="6604990"/>
            <a:ext cx="536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esto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Arial"/>
                <a:cs typeface="Arial"/>
              </a:rPr>
              <a:t>quedaría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Arial"/>
                <a:cs typeface="Arial"/>
              </a:rPr>
              <a:t>instalado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Ubuntu</a:t>
            </a:r>
            <a:r>
              <a:rPr sz="18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Arial"/>
                <a:cs typeface="Arial"/>
              </a:rPr>
              <a:t>Linux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32454" y="1707680"/>
            <a:ext cx="17188180" cy="4619625"/>
            <a:chOff x="832454" y="1707680"/>
            <a:chExt cx="17188180" cy="461962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2454" y="1959279"/>
              <a:ext cx="8345957" cy="430563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00540" y="1707680"/>
              <a:ext cx="8820086" cy="461916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15524" y="8092046"/>
            <a:ext cx="7317105" cy="173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Antes</a:t>
            </a:r>
            <a:r>
              <a:rPr sz="28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8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instalar</a:t>
            </a:r>
            <a:r>
              <a:rPr sz="28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cualquier</a:t>
            </a:r>
            <a:r>
              <a:rPr sz="28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programa,</a:t>
            </a:r>
            <a:r>
              <a:rPr sz="28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Arial"/>
                <a:cs typeface="Arial"/>
              </a:rPr>
              <a:t>se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recomienda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actualizar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lista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paquetes: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“sudo</a:t>
            </a:r>
            <a:r>
              <a:rPr sz="2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apt</a:t>
            </a:r>
            <a:r>
              <a:rPr sz="2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update”</a:t>
            </a:r>
            <a:r>
              <a:rPr sz="2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damos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enter</a:t>
            </a:r>
            <a:r>
              <a:rPr sz="2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agregamos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nuestra</a:t>
            </a:r>
            <a:r>
              <a:rPr sz="2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contraseña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12644" y="475122"/>
            <a:ext cx="109810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105" dirty="0">
                <a:solidFill>
                  <a:srgbClr val="FFFFFF"/>
                </a:solidFill>
                <a:latin typeface="Arial"/>
                <a:cs typeface="Arial"/>
              </a:rPr>
              <a:t>PASO</a:t>
            </a:r>
            <a:r>
              <a:rPr sz="26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sz="26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spc="140" dirty="0">
                <a:solidFill>
                  <a:srgbClr val="FFFFFF"/>
                </a:solidFill>
                <a:latin typeface="Arial"/>
                <a:cs typeface="Arial"/>
              </a:rPr>
              <a:t>DESCARGAMOS</a:t>
            </a:r>
            <a:r>
              <a:rPr sz="26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srgbClr val="FFFFFF"/>
                </a:solidFill>
                <a:latin typeface="Arial"/>
                <a:cs typeface="Arial"/>
              </a:rPr>
              <a:t>EH</a:t>
            </a:r>
            <a:r>
              <a:rPr sz="26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spc="140" dirty="0">
                <a:solidFill>
                  <a:srgbClr val="FFFFFF"/>
                </a:solidFill>
                <a:latin typeface="Arial"/>
                <a:cs typeface="Arial"/>
              </a:rPr>
              <a:t>INSTALAMOS</a:t>
            </a:r>
            <a:r>
              <a:rPr sz="260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spc="135" dirty="0">
                <a:solidFill>
                  <a:srgbClr val="FFFFFF"/>
                </a:solidFill>
                <a:latin typeface="Arial"/>
                <a:cs typeface="Arial"/>
              </a:rPr>
              <a:t>POSTGRESTMYSQL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12644" y="1380294"/>
            <a:ext cx="41992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Actualizar</a:t>
            </a:r>
            <a:r>
              <a:rPr sz="3600" spc="-13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repositorios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83563" y="1897367"/>
            <a:ext cx="15626080" cy="6097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95"/>
              </a:spcBef>
            </a:pPr>
            <a:endParaRPr sz="1800">
              <a:latin typeface="Times New Roman"/>
              <a:cs typeface="Times New Roman"/>
            </a:endParaRPr>
          </a:p>
          <a:p>
            <a:pPr marR="297180" algn="ctr">
              <a:lnSpc>
                <a:spcPct val="100000"/>
              </a:lnSpc>
            </a:pPr>
            <a:r>
              <a:rPr sz="1800" spc="-25" dirty="0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3563" y="1897367"/>
            <a:ext cx="15625698" cy="609786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69016" y="8573401"/>
            <a:ext cx="8265159" cy="105156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>
              <a:lnSpc>
                <a:spcPct val="98500"/>
              </a:lnSpc>
              <a:spcBef>
                <a:spcPts val="140"/>
              </a:spcBef>
              <a:tabLst>
                <a:tab pos="1231265" algn="l"/>
                <a:tab pos="3070225" algn="l"/>
                <a:tab pos="3679825" algn="l"/>
                <a:tab pos="4899025" algn="l"/>
                <a:tab pos="6575425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Ejecutar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el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siguiente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comando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para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instalar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PostgreSQL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junto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con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sus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dependencias:</a:t>
            </a:r>
            <a:r>
              <a:rPr sz="24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ourier New"/>
                <a:cs typeface="Courier New"/>
              </a:rPr>
              <a:t>sudo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Courier New"/>
                <a:cs typeface="Courier New"/>
              </a:rPr>
              <a:t>apt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install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postgresql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postgresql- contrib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2000" spc="-50" dirty="0">
                <a:solidFill>
                  <a:srgbClr val="FFFFFF"/>
                </a:solidFill>
                <a:latin typeface="Courier New"/>
                <a:cs typeface="Courier New"/>
              </a:rPr>
              <a:t>y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32636" y="553428"/>
            <a:ext cx="58826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48230" algn="l"/>
              </a:tabLst>
            </a:pPr>
            <a:r>
              <a:rPr sz="4800" b="1" spc="-10" dirty="0">
                <a:latin typeface="Arial"/>
                <a:cs typeface="Arial"/>
              </a:rPr>
              <a:t>Instalar</a:t>
            </a:r>
            <a:r>
              <a:rPr sz="4800" b="1" dirty="0">
                <a:latin typeface="Arial"/>
                <a:cs typeface="Arial"/>
              </a:rPr>
              <a:t>	</a:t>
            </a:r>
            <a:r>
              <a:rPr sz="4800" b="1" spc="-10" dirty="0">
                <a:latin typeface="Arial"/>
                <a:cs typeface="Arial"/>
              </a:rPr>
              <a:t>PostgreSQL</a:t>
            </a:r>
            <a:endParaRPr sz="4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13939" y="1580896"/>
            <a:ext cx="13284200" cy="6759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14"/>
              </a:spcBef>
            </a:pPr>
            <a:endParaRPr sz="1800">
              <a:latin typeface="Times New Roman"/>
              <a:cs typeface="Times New Roman"/>
            </a:endParaRPr>
          </a:p>
          <a:p>
            <a:pPr marL="175895" algn="ctr">
              <a:lnSpc>
                <a:spcPct val="100000"/>
              </a:lnSpc>
            </a:pPr>
            <a:r>
              <a:rPr sz="1800" spc="-25" dirty="0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3939" y="1580896"/>
            <a:ext cx="13283692" cy="67594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07184" y="8671166"/>
            <a:ext cx="1430591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Después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instalación,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se</a:t>
            </a:r>
            <a:r>
              <a:rPr sz="2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comprueba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2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estado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servicio:</a:t>
            </a:r>
            <a:r>
              <a:rPr sz="2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con: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sudo</a:t>
            </a:r>
            <a:r>
              <a:rPr sz="2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systemctl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status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postgresql,</a:t>
            </a:r>
            <a:r>
              <a:rPr sz="2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Si</a:t>
            </a:r>
            <a:r>
              <a:rPr sz="2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aparece</a:t>
            </a:r>
            <a:r>
              <a:rPr sz="2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como</a:t>
            </a:r>
            <a:r>
              <a:rPr sz="2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active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(running)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2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significa</a:t>
            </a:r>
            <a:r>
              <a:rPr sz="2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2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está</a:t>
            </a:r>
            <a:r>
              <a:rPr sz="2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funcionando</a:t>
            </a:r>
            <a:r>
              <a:rPr sz="2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correctamente.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31503" y="611154"/>
            <a:ext cx="94062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15540" algn="l"/>
                <a:tab pos="3602354" algn="l"/>
                <a:tab pos="4245610" algn="l"/>
                <a:tab pos="6480810" algn="l"/>
                <a:tab pos="7801609" algn="l"/>
              </a:tabLst>
            </a:pPr>
            <a:r>
              <a:rPr sz="4800" spc="-10" dirty="0"/>
              <a:t>Verificar</a:t>
            </a:r>
            <a:r>
              <a:rPr sz="4800" dirty="0"/>
              <a:t>	</a:t>
            </a:r>
            <a:r>
              <a:rPr sz="4800" spc="-25" dirty="0"/>
              <a:t>que</a:t>
            </a:r>
            <a:r>
              <a:rPr sz="4800" dirty="0"/>
              <a:t>	</a:t>
            </a:r>
            <a:r>
              <a:rPr sz="4800" spc="-25" dirty="0"/>
              <a:t>el</a:t>
            </a:r>
            <a:r>
              <a:rPr sz="4800" dirty="0"/>
              <a:t>	</a:t>
            </a:r>
            <a:r>
              <a:rPr sz="4800" spc="-10" dirty="0"/>
              <a:t>servicio</a:t>
            </a:r>
            <a:r>
              <a:rPr sz="4800" dirty="0"/>
              <a:t>	</a:t>
            </a:r>
            <a:r>
              <a:rPr sz="4800" spc="-20" dirty="0"/>
              <a:t>esté</a:t>
            </a:r>
            <a:r>
              <a:rPr sz="4800" dirty="0"/>
              <a:t>	</a:t>
            </a:r>
            <a:r>
              <a:rPr sz="4800" spc="-10" dirty="0"/>
              <a:t>activo</a:t>
            </a:r>
            <a:endParaRPr sz="4800"/>
          </a:p>
        </p:txBody>
      </p:sp>
      <p:sp>
        <p:nvSpPr>
          <p:cNvPr id="4" name="object 4"/>
          <p:cNvSpPr txBox="1"/>
          <p:nvPr/>
        </p:nvSpPr>
        <p:spPr>
          <a:xfrm>
            <a:off x="2974924" y="1866366"/>
            <a:ext cx="12162155" cy="6188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39"/>
              </a:spcBef>
            </a:pPr>
            <a:endParaRPr sz="1800">
              <a:latin typeface="Times New Roman"/>
              <a:cs typeface="Times New Roman"/>
            </a:endParaRPr>
          </a:p>
          <a:p>
            <a:pPr marL="175895" algn="ctr">
              <a:lnSpc>
                <a:spcPct val="100000"/>
              </a:lnSpc>
            </a:pPr>
            <a:r>
              <a:rPr sz="1800" spc="-25" dirty="0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4924" y="1866366"/>
            <a:ext cx="12161659" cy="618850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07184" y="8671166"/>
            <a:ext cx="1430591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Después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instalación,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se</a:t>
            </a:r>
            <a:r>
              <a:rPr sz="2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comprueba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2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estado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servicio:</a:t>
            </a:r>
            <a:r>
              <a:rPr sz="2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con: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sudo</a:t>
            </a:r>
            <a:r>
              <a:rPr sz="2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systemctl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status postgresql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31503" y="611154"/>
            <a:ext cx="94062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15540" algn="l"/>
                <a:tab pos="3602354" algn="l"/>
                <a:tab pos="4245610" algn="l"/>
                <a:tab pos="6480810" algn="l"/>
                <a:tab pos="7801609" algn="l"/>
              </a:tabLst>
            </a:pPr>
            <a:r>
              <a:rPr sz="4800" spc="-10" dirty="0"/>
              <a:t>Verificar</a:t>
            </a:r>
            <a:r>
              <a:rPr sz="4800" dirty="0"/>
              <a:t>	</a:t>
            </a:r>
            <a:r>
              <a:rPr sz="4800" spc="-25" dirty="0"/>
              <a:t>que</a:t>
            </a:r>
            <a:r>
              <a:rPr sz="4800" dirty="0"/>
              <a:t>	</a:t>
            </a:r>
            <a:r>
              <a:rPr sz="4800" spc="-25" dirty="0"/>
              <a:t>el</a:t>
            </a:r>
            <a:r>
              <a:rPr sz="4800" dirty="0"/>
              <a:t>	</a:t>
            </a:r>
            <a:r>
              <a:rPr sz="4800" spc="-10" dirty="0"/>
              <a:t>servicio</a:t>
            </a:r>
            <a:r>
              <a:rPr sz="4800" dirty="0"/>
              <a:t>	</a:t>
            </a:r>
            <a:r>
              <a:rPr sz="4800" spc="-20" dirty="0"/>
              <a:t>esté</a:t>
            </a:r>
            <a:r>
              <a:rPr sz="4800" dirty="0"/>
              <a:t>	</a:t>
            </a:r>
            <a:r>
              <a:rPr sz="4800" spc="-10" dirty="0"/>
              <a:t>activo</a:t>
            </a:r>
            <a:endParaRPr sz="4800"/>
          </a:p>
        </p:txBody>
      </p:sp>
      <p:sp>
        <p:nvSpPr>
          <p:cNvPr id="4" name="object 4"/>
          <p:cNvSpPr txBox="1"/>
          <p:nvPr/>
        </p:nvSpPr>
        <p:spPr>
          <a:xfrm>
            <a:off x="1558632" y="1368628"/>
            <a:ext cx="13889990" cy="7068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20"/>
              </a:spcBef>
            </a:pPr>
            <a:endParaRPr sz="1800">
              <a:latin typeface="Times New Roman"/>
              <a:cs typeface="Times New Roman"/>
            </a:endParaRPr>
          </a:p>
          <a:p>
            <a:pPr marL="1280795" algn="ctr">
              <a:lnSpc>
                <a:spcPct val="100000"/>
              </a:lnSpc>
            </a:pPr>
            <a:r>
              <a:rPr sz="1800" spc="-25" dirty="0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8632" y="1368628"/>
            <a:ext cx="13889736" cy="706786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07184" y="7991119"/>
            <a:ext cx="13440410" cy="2279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671955" algn="l"/>
                <a:tab pos="2009775" algn="l"/>
                <a:tab pos="2856865" algn="l"/>
                <a:tab pos="5385435" algn="l"/>
                <a:tab pos="6344285" algn="l"/>
                <a:tab pos="8513445" algn="l"/>
                <a:tab pos="8677275" algn="l"/>
                <a:tab pos="10071735" algn="l"/>
                <a:tab pos="11257915" algn="l"/>
                <a:tab pos="12748895" algn="l"/>
              </a:tabLst>
            </a:pPr>
            <a:r>
              <a:rPr sz="4800" spc="-10" dirty="0">
                <a:solidFill>
                  <a:srgbClr val="FFFFFF"/>
                </a:solidFill>
                <a:latin typeface="Arial"/>
                <a:cs typeface="Arial"/>
              </a:rPr>
              <a:t>Dentro</a:t>
            </a:r>
            <a:r>
              <a:rPr sz="48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4800" spc="-2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48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4800" spc="-10" dirty="0">
                <a:solidFill>
                  <a:srgbClr val="FFFFFF"/>
                </a:solidFill>
                <a:latin typeface="Arial"/>
                <a:cs typeface="Arial"/>
              </a:rPr>
              <a:t>PostgreSQL</a:t>
            </a:r>
            <a:r>
              <a:rPr sz="48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4800" spc="-10" dirty="0">
                <a:solidFill>
                  <a:srgbClr val="FFFFFF"/>
                </a:solidFill>
                <a:latin typeface="Arial"/>
                <a:cs typeface="Arial"/>
              </a:rPr>
              <a:t>puedes</a:t>
            </a:r>
            <a:r>
              <a:rPr sz="48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4800" spc="-10" dirty="0">
                <a:solidFill>
                  <a:srgbClr val="FFFFFF"/>
                </a:solidFill>
                <a:latin typeface="Arial"/>
                <a:cs typeface="Arial"/>
              </a:rPr>
              <a:t>crear</a:t>
            </a:r>
            <a:r>
              <a:rPr sz="48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4800" spc="-25" dirty="0">
                <a:solidFill>
                  <a:srgbClr val="FFFFFF"/>
                </a:solidFill>
                <a:latin typeface="Arial"/>
                <a:cs typeface="Arial"/>
              </a:rPr>
              <a:t>una</a:t>
            </a:r>
            <a:r>
              <a:rPr sz="48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4800" spc="-20" dirty="0">
                <a:solidFill>
                  <a:srgbClr val="FFFFFF"/>
                </a:solidFill>
                <a:latin typeface="Arial"/>
                <a:cs typeface="Arial"/>
              </a:rPr>
              <a:t>base</a:t>
            </a:r>
            <a:r>
              <a:rPr sz="48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4800" spc="-2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4800" spc="-1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48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4800" spc="-10" dirty="0">
                <a:solidFill>
                  <a:srgbClr val="FFFFFF"/>
                </a:solidFill>
                <a:latin typeface="Arial"/>
                <a:cs typeface="Arial"/>
              </a:rPr>
              <a:t>con:</a:t>
            </a:r>
            <a:r>
              <a:rPr sz="4800" spc="-10" dirty="0">
                <a:solidFill>
                  <a:srgbClr val="FFFFFF"/>
                </a:solidFill>
                <a:latin typeface="Courier New"/>
                <a:cs typeface="Courier New"/>
              </a:rPr>
              <a:t>CREATE</a:t>
            </a:r>
            <a:r>
              <a:rPr sz="4800" dirty="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sz="4800" spc="-10" dirty="0">
                <a:solidFill>
                  <a:srgbClr val="FFFFFF"/>
                </a:solidFill>
                <a:latin typeface="Courier New"/>
                <a:cs typeface="Courier New"/>
              </a:rPr>
              <a:t>DATABASE</a:t>
            </a:r>
            <a:r>
              <a:rPr sz="4800" dirty="0">
                <a:solidFill>
                  <a:srgbClr val="FFFFFF"/>
                </a:solidFill>
                <a:latin typeface="Courier New"/>
                <a:cs typeface="Courier New"/>
              </a:rPr>
              <a:t>		</a:t>
            </a:r>
            <a:r>
              <a:rPr sz="4800" spc="-10" dirty="0">
                <a:solidFill>
                  <a:srgbClr val="FFFFFF"/>
                </a:solidFill>
                <a:latin typeface="Courier New"/>
                <a:cs typeface="Courier New"/>
              </a:rPr>
              <a:t>“nombre”;</a:t>
            </a:r>
            <a:r>
              <a:rPr sz="4800" spc="-150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endParaRPr sz="4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  <a:tabLst>
                <a:tab pos="1332865" algn="l"/>
                <a:tab pos="2789555" algn="l"/>
                <a:tab pos="3433445" algn="l"/>
                <a:tab pos="6652259" algn="l"/>
              </a:tabLst>
            </a:pPr>
            <a:r>
              <a:rPr sz="4800" spc="-20" dirty="0">
                <a:solidFill>
                  <a:srgbClr val="FFFFFF"/>
                </a:solidFill>
                <a:latin typeface="Arial"/>
                <a:cs typeface="Arial"/>
              </a:rPr>
              <a:t>este</a:t>
            </a:r>
            <a:r>
              <a:rPr sz="48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4800" spc="-20" dirty="0">
                <a:solidFill>
                  <a:srgbClr val="FFFFFF"/>
                </a:solidFill>
                <a:latin typeface="Arial"/>
                <a:cs typeface="Arial"/>
              </a:rPr>
              <a:t>caso</a:t>
            </a:r>
            <a:r>
              <a:rPr sz="48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4800" spc="-35" dirty="0">
                <a:solidFill>
                  <a:srgbClr val="FFFFFF"/>
                </a:solidFill>
                <a:latin typeface="Arial"/>
                <a:cs typeface="Arial"/>
              </a:rPr>
              <a:t>le</a:t>
            </a:r>
            <a:r>
              <a:rPr sz="48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4800" spc="-10" dirty="0">
                <a:solidFill>
                  <a:srgbClr val="FFFFFF"/>
                </a:solidFill>
                <a:latin typeface="Arial"/>
                <a:cs typeface="Arial"/>
              </a:rPr>
              <a:t>pondremos</a:t>
            </a:r>
            <a:r>
              <a:rPr sz="48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4800" spc="-10" dirty="0">
                <a:solidFill>
                  <a:srgbClr val="FFFFFF"/>
                </a:solidFill>
                <a:latin typeface="Arial"/>
                <a:cs typeface="Arial"/>
              </a:rPr>
              <a:t>basepostgres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44901" y="-52706"/>
            <a:ext cx="67341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06245" algn="l"/>
                <a:tab pos="2892425" algn="l"/>
                <a:tab pos="4383405" algn="l"/>
                <a:tab pos="5230495" algn="l"/>
              </a:tabLst>
            </a:pPr>
            <a:r>
              <a:rPr sz="4800" spc="-10" dirty="0"/>
              <a:t>Crear</a:t>
            </a:r>
            <a:r>
              <a:rPr sz="4800" dirty="0"/>
              <a:t>	</a:t>
            </a:r>
            <a:r>
              <a:rPr sz="4800" spc="-25" dirty="0"/>
              <a:t>una</a:t>
            </a:r>
            <a:r>
              <a:rPr sz="4800" dirty="0"/>
              <a:t>	</a:t>
            </a:r>
            <a:r>
              <a:rPr sz="4800" spc="-20" dirty="0"/>
              <a:t>base</a:t>
            </a:r>
            <a:r>
              <a:rPr sz="4800" dirty="0"/>
              <a:t>	</a:t>
            </a:r>
            <a:r>
              <a:rPr sz="4800" spc="-25" dirty="0"/>
              <a:t>de</a:t>
            </a:r>
            <a:r>
              <a:rPr sz="4800" dirty="0"/>
              <a:t>	</a:t>
            </a:r>
            <a:r>
              <a:rPr sz="4800" spc="-10" dirty="0"/>
              <a:t>datos</a:t>
            </a:r>
            <a:endParaRPr sz="4800"/>
          </a:p>
        </p:txBody>
      </p:sp>
      <p:sp>
        <p:nvSpPr>
          <p:cNvPr id="4" name="object 4"/>
          <p:cNvSpPr txBox="1"/>
          <p:nvPr/>
        </p:nvSpPr>
        <p:spPr>
          <a:xfrm>
            <a:off x="1472044" y="798271"/>
            <a:ext cx="13428344" cy="68332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70"/>
              </a:spcBef>
            </a:pPr>
            <a:endParaRPr sz="1800">
              <a:latin typeface="Times New Roman"/>
              <a:cs typeface="Times New Roman"/>
            </a:endParaRPr>
          </a:p>
          <a:p>
            <a:pPr marL="1915795" algn="ctr">
              <a:lnSpc>
                <a:spcPct val="100000"/>
              </a:lnSpc>
            </a:pPr>
            <a:r>
              <a:rPr sz="1800" spc="-25" dirty="0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72044" y="798271"/>
            <a:ext cx="13428344" cy="6833234"/>
            <a:chOff x="1472044" y="798271"/>
            <a:chExt cx="13428344" cy="6833234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2044" y="798271"/>
              <a:ext cx="13427964" cy="683286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692495" y="5628411"/>
              <a:ext cx="1558925" cy="462280"/>
            </a:xfrm>
            <a:custGeom>
              <a:avLst/>
              <a:gdLst/>
              <a:ahLst/>
              <a:cxnLst/>
              <a:rect l="l" t="t" r="r" b="b"/>
              <a:pathLst>
                <a:path w="1558925" h="462279">
                  <a:moveTo>
                    <a:pt x="230908" y="0"/>
                  </a:moveTo>
                  <a:lnTo>
                    <a:pt x="0" y="230911"/>
                  </a:lnTo>
                  <a:lnTo>
                    <a:pt x="230908" y="461822"/>
                  </a:lnTo>
                  <a:lnTo>
                    <a:pt x="230908" y="346367"/>
                  </a:lnTo>
                  <a:lnTo>
                    <a:pt x="1558632" y="346367"/>
                  </a:lnTo>
                  <a:lnTo>
                    <a:pt x="1558632" y="115455"/>
                  </a:lnTo>
                  <a:lnTo>
                    <a:pt x="230908" y="115455"/>
                  </a:lnTo>
                  <a:lnTo>
                    <a:pt x="23090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92495" y="5628411"/>
              <a:ext cx="1558925" cy="462280"/>
            </a:xfrm>
            <a:custGeom>
              <a:avLst/>
              <a:gdLst/>
              <a:ahLst/>
              <a:cxnLst/>
              <a:rect l="l" t="t" r="r" b="b"/>
              <a:pathLst>
                <a:path w="1558925" h="462279">
                  <a:moveTo>
                    <a:pt x="0" y="230911"/>
                  </a:moveTo>
                  <a:lnTo>
                    <a:pt x="230908" y="0"/>
                  </a:lnTo>
                  <a:lnTo>
                    <a:pt x="230908" y="115455"/>
                  </a:lnTo>
                  <a:lnTo>
                    <a:pt x="1558632" y="115455"/>
                  </a:lnTo>
                  <a:lnTo>
                    <a:pt x="1558632" y="346367"/>
                  </a:lnTo>
                  <a:lnTo>
                    <a:pt x="230908" y="346367"/>
                  </a:lnTo>
                  <a:lnTo>
                    <a:pt x="230908" y="461822"/>
                  </a:lnTo>
                  <a:lnTo>
                    <a:pt x="0" y="230911"/>
                  </a:lnTo>
                  <a:close/>
                </a:path>
              </a:pathLst>
            </a:custGeom>
            <a:ln w="25399">
              <a:solidFill>
                <a:srgbClr val="395F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31818" y="7129322"/>
              <a:ext cx="2049780" cy="317500"/>
            </a:xfrm>
            <a:custGeom>
              <a:avLst/>
              <a:gdLst/>
              <a:ahLst/>
              <a:cxnLst/>
              <a:rect l="l" t="t" r="r" b="b"/>
              <a:pathLst>
                <a:path w="2049779" h="317500">
                  <a:moveTo>
                    <a:pt x="158748" y="0"/>
                  </a:moveTo>
                  <a:lnTo>
                    <a:pt x="0" y="158750"/>
                  </a:lnTo>
                  <a:lnTo>
                    <a:pt x="158748" y="317500"/>
                  </a:lnTo>
                  <a:lnTo>
                    <a:pt x="158748" y="238125"/>
                  </a:lnTo>
                  <a:lnTo>
                    <a:pt x="2049322" y="238125"/>
                  </a:lnTo>
                  <a:lnTo>
                    <a:pt x="2049322" y="79375"/>
                  </a:lnTo>
                  <a:lnTo>
                    <a:pt x="158748" y="79375"/>
                  </a:lnTo>
                  <a:lnTo>
                    <a:pt x="15874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31818" y="7129322"/>
              <a:ext cx="2049780" cy="317500"/>
            </a:xfrm>
            <a:custGeom>
              <a:avLst/>
              <a:gdLst/>
              <a:ahLst/>
              <a:cxnLst/>
              <a:rect l="l" t="t" r="r" b="b"/>
              <a:pathLst>
                <a:path w="2049779" h="317500">
                  <a:moveTo>
                    <a:pt x="0" y="158750"/>
                  </a:moveTo>
                  <a:lnTo>
                    <a:pt x="158748" y="0"/>
                  </a:lnTo>
                  <a:lnTo>
                    <a:pt x="158748" y="79375"/>
                  </a:lnTo>
                  <a:lnTo>
                    <a:pt x="2049322" y="79375"/>
                  </a:lnTo>
                  <a:lnTo>
                    <a:pt x="2049322" y="238125"/>
                  </a:lnTo>
                  <a:lnTo>
                    <a:pt x="158748" y="238125"/>
                  </a:lnTo>
                  <a:lnTo>
                    <a:pt x="158748" y="317500"/>
                  </a:lnTo>
                  <a:lnTo>
                    <a:pt x="0" y="158750"/>
                  </a:lnTo>
                  <a:close/>
                </a:path>
              </a:pathLst>
            </a:custGeom>
            <a:ln w="25399">
              <a:solidFill>
                <a:srgbClr val="395F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07184" y="8344496"/>
            <a:ext cx="1323848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Antes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instalar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cualquier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importante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asegurarse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que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sistema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esté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actualizado.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Esto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permite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evitar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errores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compatibilidad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asegura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que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instalen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las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versiones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más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recientes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paquetes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Comando: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sudo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&amp;&amp;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sudo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upgrade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primer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comando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actualiza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lista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paquetes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disponibles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segundo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instala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las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actualizaciones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pendientes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29458" y="94348"/>
            <a:ext cx="50977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00960" algn="l"/>
                <a:tab pos="3181985" algn="l"/>
              </a:tabLst>
            </a:pPr>
            <a:r>
              <a:rPr sz="4800" spc="-10" dirty="0">
                <a:latin typeface="Calibri"/>
                <a:cs typeface="Calibri"/>
              </a:rPr>
              <a:t>Actualizar</a:t>
            </a:r>
            <a:r>
              <a:rPr sz="4800" dirty="0">
                <a:latin typeface="Calibri"/>
                <a:cs typeface="Calibri"/>
              </a:rPr>
              <a:t>	</a:t>
            </a:r>
            <a:r>
              <a:rPr sz="4800" spc="-25" dirty="0">
                <a:latin typeface="Calibri"/>
                <a:cs typeface="Calibri"/>
              </a:rPr>
              <a:t>el</a:t>
            </a:r>
            <a:r>
              <a:rPr sz="4800" dirty="0">
                <a:latin typeface="Calibri"/>
                <a:cs typeface="Calibri"/>
              </a:rPr>
              <a:t>	</a:t>
            </a:r>
            <a:r>
              <a:rPr sz="4800" spc="-10" dirty="0">
                <a:latin typeface="Calibri"/>
                <a:cs typeface="Calibri"/>
              </a:rPr>
              <a:t>sistema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94772" y="877943"/>
            <a:ext cx="14698344" cy="7479665"/>
            <a:chOff x="894772" y="877943"/>
            <a:chExt cx="14698344" cy="7479665"/>
          </a:xfrm>
        </p:grpSpPr>
        <p:sp>
          <p:nvSpPr>
            <p:cNvPr id="6" name="object 6"/>
            <p:cNvSpPr/>
            <p:nvPr/>
          </p:nvSpPr>
          <p:spPr>
            <a:xfrm>
              <a:off x="5692495" y="5628411"/>
              <a:ext cx="1558925" cy="462280"/>
            </a:xfrm>
            <a:custGeom>
              <a:avLst/>
              <a:gdLst/>
              <a:ahLst/>
              <a:cxnLst/>
              <a:rect l="l" t="t" r="r" b="b"/>
              <a:pathLst>
                <a:path w="1558925" h="462279">
                  <a:moveTo>
                    <a:pt x="230908" y="0"/>
                  </a:moveTo>
                  <a:lnTo>
                    <a:pt x="0" y="230911"/>
                  </a:lnTo>
                  <a:lnTo>
                    <a:pt x="230908" y="461822"/>
                  </a:lnTo>
                  <a:lnTo>
                    <a:pt x="230908" y="346367"/>
                  </a:lnTo>
                  <a:lnTo>
                    <a:pt x="1558632" y="346367"/>
                  </a:lnTo>
                  <a:lnTo>
                    <a:pt x="1558632" y="115455"/>
                  </a:lnTo>
                  <a:lnTo>
                    <a:pt x="230908" y="115455"/>
                  </a:lnTo>
                  <a:lnTo>
                    <a:pt x="23090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92495" y="5628411"/>
              <a:ext cx="1558925" cy="462280"/>
            </a:xfrm>
            <a:custGeom>
              <a:avLst/>
              <a:gdLst/>
              <a:ahLst/>
              <a:cxnLst/>
              <a:rect l="l" t="t" r="r" b="b"/>
              <a:pathLst>
                <a:path w="1558925" h="462279">
                  <a:moveTo>
                    <a:pt x="0" y="230911"/>
                  </a:moveTo>
                  <a:lnTo>
                    <a:pt x="230908" y="0"/>
                  </a:lnTo>
                  <a:lnTo>
                    <a:pt x="230908" y="115455"/>
                  </a:lnTo>
                  <a:lnTo>
                    <a:pt x="1558632" y="115455"/>
                  </a:lnTo>
                  <a:lnTo>
                    <a:pt x="1558632" y="346367"/>
                  </a:lnTo>
                  <a:lnTo>
                    <a:pt x="230908" y="346367"/>
                  </a:lnTo>
                  <a:lnTo>
                    <a:pt x="230908" y="461822"/>
                  </a:lnTo>
                  <a:lnTo>
                    <a:pt x="0" y="230911"/>
                  </a:lnTo>
                  <a:close/>
                </a:path>
              </a:pathLst>
            </a:custGeom>
            <a:ln w="25399">
              <a:solidFill>
                <a:srgbClr val="395F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31818" y="7129322"/>
              <a:ext cx="2049780" cy="317500"/>
            </a:xfrm>
            <a:custGeom>
              <a:avLst/>
              <a:gdLst/>
              <a:ahLst/>
              <a:cxnLst/>
              <a:rect l="l" t="t" r="r" b="b"/>
              <a:pathLst>
                <a:path w="2049779" h="317500">
                  <a:moveTo>
                    <a:pt x="158748" y="0"/>
                  </a:moveTo>
                  <a:lnTo>
                    <a:pt x="0" y="158750"/>
                  </a:lnTo>
                  <a:lnTo>
                    <a:pt x="158748" y="317500"/>
                  </a:lnTo>
                  <a:lnTo>
                    <a:pt x="158748" y="238125"/>
                  </a:lnTo>
                  <a:lnTo>
                    <a:pt x="2049322" y="238125"/>
                  </a:lnTo>
                  <a:lnTo>
                    <a:pt x="2049322" y="79375"/>
                  </a:lnTo>
                  <a:lnTo>
                    <a:pt x="158748" y="79375"/>
                  </a:lnTo>
                  <a:lnTo>
                    <a:pt x="15874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31818" y="7129322"/>
              <a:ext cx="2049780" cy="317500"/>
            </a:xfrm>
            <a:custGeom>
              <a:avLst/>
              <a:gdLst/>
              <a:ahLst/>
              <a:cxnLst/>
              <a:rect l="l" t="t" r="r" b="b"/>
              <a:pathLst>
                <a:path w="2049779" h="317500">
                  <a:moveTo>
                    <a:pt x="0" y="158750"/>
                  </a:moveTo>
                  <a:lnTo>
                    <a:pt x="158748" y="0"/>
                  </a:lnTo>
                  <a:lnTo>
                    <a:pt x="158748" y="79375"/>
                  </a:lnTo>
                  <a:lnTo>
                    <a:pt x="2049322" y="79375"/>
                  </a:lnTo>
                  <a:lnTo>
                    <a:pt x="2049322" y="238125"/>
                  </a:lnTo>
                  <a:lnTo>
                    <a:pt x="158748" y="238125"/>
                  </a:lnTo>
                  <a:lnTo>
                    <a:pt x="158748" y="317500"/>
                  </a:lnTo>
                  <a:lnTo>
                    <a:pt x="0" y="158750"/>
                  </a:lnTo>
                  <a:close/>
                </a:path>
              </a:pathLst>
            </a:custGeom>
            <a:ln w="25399">
              <a:solidFill>
                <a:srgbClr val="395F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4772" y="877943"/>
              <a:ext cx="14697964" cy="747911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974806" y="4841849"/>
            <a:ext cx="8333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Comando:sudo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update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&amp;&amp;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sudo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upgrade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-</a:t>
            </a:r>
            <a:r>
              <a:rPr sz="1800" dirty="0">
                <a:latin typeface="Calibri"/>
                <a:cs typeface="Calibri"/>
              </a:rPr>
              <a:t>yEl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primer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comando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actualiza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lista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74806" y="5116169"/>
            <a:ext cx="6778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paquetes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disponibles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segundo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instala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actualizaciones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pendientes.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07184" y="8200187"/>
            <a:ext cx="13096875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Para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instalar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MySQL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utiliza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gestor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paquetes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APT.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Este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descargará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automáticamente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todas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las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dependencias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necesarias.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Comando: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sudo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install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mysql-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server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parámetro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permite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aceptar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automáticamente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instalación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sin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intervención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del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usuario.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29458" y="104102"/>
            <a:ext cx="53105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"/>
                <a:cs typeface="Calibri"/>
              </a:rPr>
              <a:t>Instalación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de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MySQL</a:t>
            </a:r>
            <a:r>
              <a:rPr sz="3600" spc="-3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Server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9316" y="695063"/>
            <a:ext cx="13919200" cy="7082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800">
              <a:latin typeface="Times New Roman"/>
              <a:cs typeface="Times New Roman"/>
            </a:endParaRPr>
          </a:p>
          <a:p>
            <a:pPr marL="2810510" algn="ctr">
              <a:lnSpc>
                <a:spcPct val="100000"/>
              </a:lnSpc>
              <a:spcBef>
                <a:spcPts val="5"/>
              </a:spcBef>
            </a:pPr>
            <a:r>
              <a:rPr sz="1800" spc="-25" dirty="0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9316" y="695063"/>
            <a:ext cx="13918692" cy="708254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07184" y="8090255"/>
            <a:ext cx="10119360" cy="20694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na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vez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instalado,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es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necesario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comprobar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que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servicio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MySQL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se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encuentra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activo.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50"/>
              </a:spcBef>
            </a:pP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Comando: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sudo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systemctl</a:t>
            </a:r>
            <a:r>
              <a:rPr sz="2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status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mysql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40"/>
              </a:spcBef>
            </a:pP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Si</a:t>
            </a:r>
            <a:r>
              <a:rPr sz="2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servicio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está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funcionando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correctamente,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se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mostrará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estado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“active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(running)”.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29458" y="104102"/>
            <a:ext cx="44081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"/>
                <a:cs typeface="Calibri"/>
              </a:rPr>
              <a:t>Verificacion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del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servicio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5908" y="765865"/>
            <a:ext cx="13889990" cy="7068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800">
              <a:latin typeface="Times New Roman"/>
              <a:cs typeface="Times New Roman"/>
            </a:endParaRPr>
          </a:p>
          <a:p>
            <a:pPr marL="2666365" algn="ctr">
              <a:lnSpc>
                <a:spcPct val="100000"/>
              </a:lnSpc>
            </a:pPr>
            <a:r>
              <a:rPr sz="1800" spc="-25" dirty="0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5908" y="765865"/>
            <a:ext cx="13889736" cy="706786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07184" y="8379815"/>
            <a:ext cx="588645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Primero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entramos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mysql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con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comando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de-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: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Comando: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sudo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mysql</a:t>
            </a:r>
            <a:endParaRPr sz="2400">
              <a:latin typeface="Calibri"/>
              <a:cs typeface="Calibri"/>
            </a:endParaRPr>
          </a:p>
          <a:p>
            <a:pPr marL="12700" marR="75565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Ahora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colocaremos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siguiente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comando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Comando: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ourier New"/>
                <a:cs typeface="Courier New"/>
              </a:rPr>
              <a:t>CREATE</a:t>
            </a:r>
            <a:r>
              <a:rPr sz="1600" spc="-9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FFFFFF"/>
                </a:solidFill>
                <a:latin typeface="Courier New"/>
                <a:cs typeface="Courier New"/>
              </a:rPr>
              <a:t>DATABASE</a:t>
            </a:r>
            <a:r>
              <a:rPr sz="1600" spc="-8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ourier New"/>
                <a:cs typeface="Courier New"/>
              </a:rPr>
              <a:t>basemysql;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29458" y="104102"/>
            <a:ext cx="48996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"/>
                <a:cs typeface="Calibri"/>
              </a:rPr>
              <a:t>Creacion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de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base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de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datos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1589" y="981363"/>
            <a:ext cx="13976985" cy="7112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800">
              <a:latin typeface="Times New Roman"/>
              <a:cs typeface="Times New Roman"/>
            </a:endParaRPr>
          </a:p>
          <a:p>
            <a:pPr marL="2867660" algn="ctr">
              <a:lnSpc>
                <a:spcPct val="100000"/>
              </a:lnSpc>
            </a:pPr>
            <a:r>
              <a:rPr sz="1800" spc="-25" dirty="0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589" y="981363"/>
            <a:ext cx="13976731" cy="711213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07184" y="8364575"/>
            <a:ext cx="10953750" cy="1515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Para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base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datos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oracle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ocupamos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descargar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dependencias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para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poder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utilizarlas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Comando: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sudo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apt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535"/>
              </a:lnSpc>
              <a:tabLst>
                <a:tab pos="850265" algn="l"/>
                <a:tab pos="1521460" algn="l"/>
                <a:tab pos="2862580" algn="l"/>
                <a:tab pos="3868420" algn="l"/>
                <a:tab pos="5712460" algn="l"/>
                <a:tab pos="7221220" algn="l"/>
              </a:tabLst>
            </a:pPr>
            <a:r>
              <a:rPr sz="2200" spc="-20" dirty="0">
                <a:solidFill>
                  <a:srgbClr val="FFFFFF"/>
                </a:solidFill>
                <a:latin typeface="Courier New"/>
                <a:cs typeface="Courier New"/>
              </a:rPr>
              <a:t>sudo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sz="2200" spc="-25" dirty="0">
                <a:solidFill>
                  <a:srgbClr val="FFFFFF"/>
                </a:solidFill>
                <a:latin typeface="Courier New"/>
                <a:cs typeface="Courier New"/>
              </a:rPr>
              <a:t>apt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sz="2200" spc="-10" dirty="0">
                <a:solidFill>
                  <a:srgbClr val="FFFFFF"/>
                </a:solidFill>
                <a:latin typeface="Courier New"/>
                <a:cs typeface="Courier New"/>
              </a:rPr>
              <a:t>install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sz="2200" spc="-10" dirty="0">
                <a:solidFill>
                  <a:srgbClr val="FFFFFF"/>
                </a:solidFill>
                <a:latin typeface="Courier New"/>
                <a:cs typeface="Courier New"/>
              </a:rPr>
              <a:t>alien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sz="2200" spc="-25" dirty="0">
                <a:solidFill>
                  <a:srgbClr val="FFFFFF"/>
                </a:solidFill>
                <a:latin typeface="Courier New"/>
                <a:cs typeface="Courier New"/>
              </a:rPr>
              <a:t>libaio-dev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sz="2200" spc="-10" dirty="0">
                <a:solidFill>
                  <a:srgbClr val="FFFFFF"/>
                </a:solidFill>
                <a:latin typeface="Courier New"/>
                <a:cs typeface="Courier New"/>
              </a:rPr>
              <a:t>unixodbc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sz="2200" spc="-25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2200" spc="-50" dirty="0">
                <a:solidFill>
                  <a:srgbClr val="FFFFFF"/>
                </a:solidFill>
                <a:latin typeface="Courier New"/>
                <a:cs typeface="Courier New"/>
              </a:rPr>
              <a:t>y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Instalamos</a:t>
            </a:r>
            <a:r>
              <a:rPr sz="2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2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librerias</a:t>
            </a:r>
            <a:r>
              <a:rPr sz="2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alien</a:t>
            </a:r>
            <a:r>
              <a:rPr sz="2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libaio1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29458" y="104102"/>
            <a:ext cx="40970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"/>
                <a:cs typeface="Calibri"/>
              </a:rPr>
              <a:t>Instalacion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de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oracle </a:t>
            </a:r>
            <a:r>
              <a:rPr sz="3600" dirty="0">
                <a:latin typeface="Calibri"/>
                <a:cs typeface="Calibri"/>
              </a:rPr>
              <a:t>Instalar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dependencias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0451" y="1485950"/>
            <a:ext cx="12677495" cy="645100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80451" y="1485950"/>
            <a:ext cx="12677775" cy="645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1800">
              <a:latin typeface="Times New Roman"/>
              <a:cs typeface="Times New Roman"/>
            </a:endParaRPr>
          </a:p>
          <a:p>
            <a:pPr marL="2248535" algn="ctr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cd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75" dirty="0">
                <a:latin typeface="Calibri"/>
                <a:cs typeface="Calibri"/>
              </a:rPr>
              <a:t>D</a:t>
            </a:r>
            <a:r>
              <a:rPr sz="1800" spc="-210" dirty="0">
                <a:latin typeface="Calibri"/>
                <a:cs typeface="Calibri"/>
              </a:rPr>
              <a:t>e</a:t>
            </a:r>
            <a:r>
              <a:rPr sz="1800" spc="-555" dirty="0">
                <a:latin typeface="Calibri"/>
                <a:cs typeface="Calibri"/>
              </a:rPr>
              <a:t>0</a:t>
            </a:r>
            <a:r>
              <a:rPr sz="1800" spc="5" dirty="0">
                <a:latin typeface="Calibri"/>
                <a:cs typeface="Calibri"/>
              </a:rPr>
              <a:t>s</a:t>
            </a:r>
            <a:r>
              <a:rPr sz="1800" spc="-765" dirty="0">
                <a:latin typeface="Calibri"/>
                <a:cs typeface="Calibri"/>
              </a:rPr>
              <a:t>3</a:t>
            </a:r>
            <a:r>
              <a:rPr sz="1800" spc="85" dirty="0">
                <a:latin typeface="Calibri"/>
                <a:cs typeface="Calibri"/>
              </a:rPr>
              <a:t>c</a:t>
            </a:r>
            <a:r>
              <a:rPr sz="1800" spc="75" dirty="0">
                <a:latin typeface="Calibri"/>
                <a:cs typeface="Calibri"/>
              </a:rPr>
              <a:t>a</a:t>
            </a:r>
            <a:r>
              <a:rPr sz="1800" spc="85" dirty="0">
                <a:latin typeface="Calibri"/>
                <a:cs typeface="Calibri"/>
              </a:rPr>
              <a:t>rg</a:t>
            </a:r>
            <a:r>
              <a:rPr sz="1800" spc="75" dirty="0">
                <a:latin typeface="Calibri"/>
                <a:cs typeface="Calibri"/>
              </a:rPr>
              <a:t>a</a:t>
            </a:r>
            <a:r>
              <a:rPr sz="1800" spc="80" dirty="0"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07831" y="8630094"/>
            <a:ext cx="10953750" cy="1515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Para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base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datos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oracle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ocupamos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descargar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dependencias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para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poder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utilizarlas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Comando: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sudo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apt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535"/>
              </a:lnSpc>
              <a:tabLst>
                <a:tab pos="850265" algn="l"/>
                <a:tab pos="1521460" algn="l"/>
                <a:tab pos="2862580" algn="l"/>
                <a:tab pos="3868420" algn="l"/>
                <a:tab pos="5712460" algn="l"/>
                <a:tab pos="7221220" algn="l"/>
              </a:tabLst>
            </a:pPr>
            <a:r>
              <a:rPr sz="2200" spc="-20" dirty="0">
                <a:solidFill>
                  <a:srgbClr val="FFFFFF"/>
                </a:solidFill>
                <a:latin typeface="Courier New"/>
                <a:cs typeface="Courier New"/>
              </a:rPr>
              <a:t>sudo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sz="2200" spc="-25" dirty="0">
                <a:solidFill>
                  <a:srgbClr val="FFFFFF"/>
                </a:solidFill>
                <a:latin typeface="Courier New"/>
                <a:cs typeface="Courier New"/>
              </a:rPr>
              <a:t>apt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sz="2200" spc="-10" dirty="0">
                <a:solidFill>
                  <a:srgbClr val="FFFFFF"/>
                </a:solidFill>
                <a:latin typeface="Courier New"/>
                <a:cs typeface="Courier New"/>
              </a:rPr>
              <a:t>install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sz="2200" spc="-10" dirty="0">
                <a:solidFill>
                  <a:srgbClr val="FFFFFF"/>
                </a:solidFill>
                <a:latin typeface="Courier New"/>
                <a:cs typeface="Courier New"/>
              </a:rPr>
              <a:t>alien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sz="2200" spc="-25" dirty="0">
                <a:solidFill>
                  <a:srgbClr val="FFFFFF"/>
                </a:solidFill>
                <a:latin typeface="Courier New"/>
                <a:cs typeface="Courier New"/>
              </a:rPr>
              <a:t>libaio-dev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sz="2200" spc="-10" dirty="0">
                <a:solidFill>
                  <a:srgbClr val="FFFFFF"/>
                </a:solidFill>
                <a:latin typeface="Courier New"/>
                <a:cs typeface="Courier New"/>
              </a:rPr>
              <a:t>unixodbc</a:t>
            </a:r>
            <a:r>
              <a:rPr sz="2200" dirty="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sz="2200" spc="-25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2200" spc="-50" dirty="0">
                <a:solidFill>
                  <a:srgbClr val="FFFFFF"/>
                </a:solidFill>
                <a:latin typeface="Courier New"/>
                <a:cs typeface="Courier New"/>
              </a:rPr>
              <a:t>y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Instalamos</a:t>
            </a:r>
            <a:r>
              <a:rPr sz="2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2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librerias</a:t>
            </a:r>
            <a:r>
              <a:rPr sz="2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alien</a:t>
            </a:r>
            <a:r>
              <a:rPr sz="2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libaio1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29458" y="104102"/>
            <a:ext cx="40970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"/>
                <a:cs typeface="Calibri"/>
              </a:rPr>
              <a:t>Instalacion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de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oracle </a:t>
            </a:r>
            <a:r>
              <a:rPr sz="3600" dirty="0">
                <a:latin typeface="Calibri"/>
                <a:cs typeface="Calibri"/>
              </a:rPr>
              <a:t>Instalar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dependencias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5680" y="1360589"/>
            <a:ext cx="14149705" cy="7200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80"/>
              </a:spcBef>
            </a:pPr>
            <a:endParaRPr sz="1800">
              <a:latin typeface="Times New Roman"/>
              <a:cs typeface="Times New Roman"/>
            </a:endParaRPr>
          </a:p>
          <a:p>
            <a:pPr marL="1885950" algn="ctr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cd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75" dirty="0">
                <a:latin typeface="Calibri"/>
                <a:cs typeface="Calibri"/>
              </a:rPr>
              <a:t>D</a:t>
            </a:r>
            <a:r>
              <a:rPr sz="1800" spc="-210" dirty="0">
                <a:latin typeface="Calibri"/>
                <a:cs typeface="Calibri"/>
              </a:rPr>
              <a:t>e</a:t>
            </a:r>
            <a:r>
              <a:rPr sz="1800" spc="-555" dirty="0">
                <a:latin typeface="Calibri"/>
                <a:cs typeface="Calibri"/>
              </a:rPr>
              <a:t>0</a:t>
            </a:r>
            <a:r>
              <a:rPr sz="1800" spc="5" dirty="0">
                <a:latin typeface="Calibri"/>
                <a:cs typeface="Calibri"/>
              </a:rPr>
              <a:t>s</a:t>
            </a:r>
            <a:r>
              <a:rPr sz="1800" spc="-765" dirty="0">
                <a:latin typeface="Calibri"/>
                <a:cs typeface="Calibri"/>
              </a:rPr>
              <a:t>3</a:t>
            </a:r>
            <a:r>
              <a:rPr sz="1800" spc="85" dirty="0">
                <a:latin typeface="Calibri"/>
                <a:cs typeface="Calibri"/>
              </a:rPr>
              <a:t>c</a:t>
            </a:r>
            <a:r>
              <a:rPr sz="1800" spc="75" dirty="0">
                <a:latin typeface="Calibri"/>
                <a:cs typeface="Calibri"/>
              </a:rPr>
              <a:t>a</a:t>
            </a:r>
            <a:r>
              <a:rPr sz="1800" spc="85" dirty="0">
                <a:latin typeface="Calibri"/>
                <a:cs typeface="Calibri"/>
              </a:rPr>
              <a:t>rg</a:t>
            </a:r>
            <a:r>
              <a:rPr sz="1800" spc="75" dirty="0">
                <a:latin typeface="Calibri"/>
                <a:cs typeface="Calibri"/>
              </a:rPr>
              <a:t>a</a:t>
            </a:r>
            <a:r>
              <a:rPr sz="1800" spc="80" dirty="0"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5680" y="1360589"/>
            <a:ext cx="14149577" cy="720004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1081" y="521971"/>
            <a:ext cx="5802922" cy="4114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063945" y="5773356"/>
            <a:ext cx="5802922" cy="41148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459493" y="531199"/>
            <a:ext cx="11011535" cy="153035"/>
            <a:chOff x="6459493" y="531199"/>
            <a:chExt cx="11011535" cy="153035"/>
          </a:xfrm>
        </p:grpSpPr>
        <p:sp>
          <p:nvSpPr>
            <p:cNvPr id="6" name="object 6"/>
            <p:cNvSpPr/>
            <p:nvPr/>
          </p:nvSpPr>
          <p:spPr>
            <a:xfrm>
              <a:off x="6528549" y="607694"/>
              <a:ext cx="10942320" cy="0"/>
            </a:xfrm>
            <a:custGeom>
              <a:avLst/>
              <a:gdLst/>
              <a:ahLst/>
              <a:cxnLst/>
              <a:rect l="l" t="t" r="r" b="b"/>
              <a:pathLst>
                <a:path w="10942319">
                  <a:moveTo>
                    <a:pt x="0" y="0"/>
                  </a:moveTo>
                  <a:lnTo>
                    <a:pt x="10942243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59493" y="531199"/>
              <a:ext cx="138111" cy="152990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752881" y="9668786"/>
            <a:ext cx="11011535" cy="153035"/>
            <a:chOff x="752881" y="9668786"/>
            <a:chExt cx="11011535" cy="153035"/>
          </a:xfrm>
        </p:grpSpPr>
        <p:sp>
          <p:nvSpPr>
            <p:cNvPr id="9" name="object 9"/>
            <p:cNvSpPr/>
            <p:nvPr/>
          </p:nvSpPr>
          <p:spPr>
            <a:xfrm>
              <a:off x="752881" y="9745281"/>
              <a:ext cx="10942320" cy="0"/>
            </a:xfrm>
            <a:custGeom>
              <a:avLst/>
              <a:gdLst/>
              <a:ahLst/>
              <a:cxnLst/>
              <a:rect l="l" t="t" r="r" b="b"/>
              <a:pathLst>
                <a:path w="10942320">
                  <a:moveTo>
                    <a:pt x="10942243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626069" y="9668786"/>
              <a:ext cx="138111" cy="15299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830387" y="3459683"/>
            <a:ext cx="6626225" cy="5146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Al</a:t>
            </a:r>
            <a:r>
              <a:rPr sz="2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final</a:t>
            </a:r>
            <a:r>
              <a:rPr sz="2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logramos</a:t>
            </a:r>
            <a:r>
              <a:rPr sz="2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2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Ubuntu</a:t>
            </a:r>
            <a:r>
              <a:rPr sz="2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arranque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perfecto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junto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Windows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lo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ves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Arial"/>
                <a:cs typeface="Arial"/>
              </a:rPr>
              <a:t>un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menú</a:t>
            </a:r>
            <a:r>
              <a:rPr sz="2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llamado</a:t>
            </a:r>
            <a:r>
              <a:rPr sz="2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GRUB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al</a:t>
            </a:r>
            <a:r>
              <a:rPr sz="2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encender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PC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2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las</a:t>
            </a:r>
            <a:r>
              <a:rPr sz="2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bases</a:t>
            </a:r>
            <a:r>
              <a:rPr sz="2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2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funcionen</a:t>
            </a:r>
            <a:r>
              <a:rPr sz="2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bien,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creando</a:t>
            </a:r>
            <a:r>
              <a:rPr sz="28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una</a:t>
            </a:r>
            <a:r>
              <a:rPr sz="28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28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PostgreSQL</a:t>
            </a:r>
            <a:r>
              <a:rPr sz="28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llamada "basepostgres"</a:t>
            </a:r>
            <a:r>
              <a:rPr sz="2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otra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2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MySQL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llamada</a:t>
            </a:r>
            <a:r>
              <a:rPr sz="2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"basemysql"</a:t>
            </a:r>
            <a:r>
              <a:rPr sz="28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Aprendimos</a:t>
            </a:r>
            <a:r>
              <a:rPr sz="28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trucos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simples</a:t>
            </a:r>
            <a:r>
              <a:rPr sz="2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como</a:t>
            </a:r>
            <a:r>
              <a:rPr sz="2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actualizar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2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sistema</a:t>
            </a:r>
            <a:r>
              <a:rPr sz="2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antes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instalar</a:t>
            </a:r>
            <a:r>
              <a:rPr sz="2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(con</a:t>
            </a:r>
            <a:r>
              <a:rPr sz="2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comandos</a:t>
            </a:r>
            <a:r>
              <a:rPr sz="2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como</a:t>
            </a:r>
            <a:r>
              <a:rPr sz="2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"sudo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apt</a:t>
            </a:r>
            <a:r>
              <a:rPr sz="2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update")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checar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si</a:t>
            </a:r>
            <a:r>
              <a:rPr sz="2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todo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va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bien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"/>
                <a:cs typeface="Arial"/>
              </a:rPr>
              <a:t>esto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nos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deja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listos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prácticas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Arial"/>
                <a:cs typeface="Arial"/>
              </a:rPr>
              <a:t>más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grandes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trabajos</a:t>
            </a:r>
            <a:r>
              <a:rPr sz="2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reales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2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computación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7053109" y="1889315"/>
            <a:ext cx="4159250" cy="97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250" spc="150" dirty="0"/>
              <a:t>Conclusion</a:t>
            </a:r>
            <a:endParaRPr sz="62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1493</Words>
  <Application>Microsoft Office PowerPoint</Application>
  <PresentationFormat>Personalizado</PresentationFormat>
  <Paragraphs>307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2" baseType="lpstr">
      <vt:lpstr>Arial</vt:lpstr>
      <vt:lpstr>Calibri</vt:lpstr>
      <vt:lpstr>Courier New</vt:lpstr>
      <vt:lpstr>Microsoft Sans Serif</vt:lpstr>
      <vt:lpstr>Times New Roman</vt:lpstr>
      <vt:lpstr>Office Theme</vt:lpstr>
      <vt:lpstr>Presentación de PowerPoint</vt:lpstr>
      <vt:lpstr>INTRODUCCIÓN</vt:lpstr>
      <vt:lpstr>JUSTIFICACION</vt:lpstr>
      <vt:lpstr>Paso 1 Descargaremos la imagen ISO de Ubuntu linux</vt:lpstr>
      <vt:lpstr>´Paso 2: Hacemos las particiones del disco duro</vt:lpstr>
      <vt:lpstr>´Paso 2: Hacemos las particiones del disco duro</vt:lpstr>
      <vt:lpstr>Paso 3: Descargamos Rufus y preparamos la memoria con la ISO</vt:lpstr>
      <vt:lpstr>´Paso 4: Entramos a la Bios y damos en arrancar USB</vt:lpstr>
      <vt:lpstr>´Paso 5: Configuración de Ubuntu y instalacion</vt:lpstr>
      <vt:lpstr>´Paso 5: Configuración de Ubuntu y instalacion</vt:lpstr>
      <vt:lpstr>´Paso 5: Configuración de Ubuntu y instalacion</vt:lpstr>
      <vt:lpstr>´Paso 5: Configuración de Ubuntu y instalacion</vt:lpstr>
      <vt:lpstr>´Paso 5: Configuración de Ubuntu y instalacion</vt:lpstr>
      <vt:lpstr>´Paso 5: Configuración de Ubuntu y instalacion</vt:lpstr>
      <vt:lpstr>Actualizar repositorios</vt:lpstr>
      <vt:lpstr>Instalar PostgreSQL</vt:lpstr>
      <vt:lpstr>Verificar que el servicio esté activo</vt:lpstr>
      <vt:lpstr>Verificar que el servicio esté activo</vt:lpstr>
      <vt:lpstr>Crear una base de datos</vt:lpstr>
      <vt:lpstr>Actualizar el sistema</vt:lpstr>
      <vt:lpstr>Instalación de MySQL Server</vt:lpstr>
      <vt:lpstr>Verificacion del servicio</vt:lpstr>
      <vt:lpstr>Creacion de base de datos</vt:lpstr>
      <vt:lpstr>Instalacion de oracle Instalar dependencias</vt:lpstr>
      <vt:lpstr>Instalacion de oracle Instalar dependencias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Eddi Castillo</dc:creator>
  <cp:lastModifiedBy>eddi castillo</cp:lastModifiedBy>
  <cp:revision>1</cp:revision>
  <dcterms:created xsi:type="dcterms:W3CDTF">2026-05-06T04:52:09Z</dcterms:created>
  <dcterms:modified xsi:type="dcterms:W3CDTF">2026-06-04T03:37:23Z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2026-05-06T00:00:00Z</vt:filetime>
  </property>
  <property fmtid="{D5CDD505-2E9C-101B-9397-08002B2CF9AE}" pid="3" name="LastSaved">
    <vt:filetime>2026-05-06T00:00:00Z</vt:filetime>
  </property>
  <property fmtid="{D5CDD505-2E9C-101B-9397-08002B2CF9AE}" pid="4" name="Producer">
    <vt:lpwstr>3-Heights(TM) PDF Security Shell 4.8.25.2 (http://www.pdf-tools.com)</vt:lpwstr>
  </property>
</Properties>
</file>