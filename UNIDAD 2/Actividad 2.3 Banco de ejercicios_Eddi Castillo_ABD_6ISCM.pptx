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18288000" cy="10287000"/>
  <p:defaultTextStyle>
    <a:defPPr>
      <a:defRPr/>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F18944-D6FA-56D4-FD40-79D83DBD4AAC}"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1C3244-B1D7-8B3E-B480-BDDD44BB755E}"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AAC240-CDCB-4B3E-A3FD-AAFE001FB73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67419503" name="Slide Image Placeholder 1"/>
          <p:cNvSpPr>
            <a:spLocks noGrp="1" noRot="1" noChangeAspect="1"/>
          </p:cNvSpPr>
          <p:nvPr>
            <p:ph type="sldImg"/>
          </p:nvPr>
        </p:nvSpPr>
        <p:spPr bwMode="auto"/>
      </p:sp>
      <p:sp>
        <p:nvSpPr>
          <p:cNvPr id="926808463" name="Notes Placeholder 2"/>
          <p:cNvSpPr>
            <a:spLocks noGrp="1"/>
          </p:cNvSpPr>
          <p:nvPr>
            <p:ph type="body" idx="1"/>
          </p:nvPr>
        </p:nvSpPr>
        <p:spPr bwMode="auto"/>
        <p:txBody>
          <a:bodyPr/>
          <a:lstStyle/>
          <a:p>
            <a:pPr>
              <a:defRPr/>
            </a:pPr>
            <a:endParaRPr/>
          </a:p>
        </p:txBody>
      </p:sp>
      <p:sp>
        <p:nvSpPr>
          <p:cNvPr id="1506716065" name="Slide Number Placeholder 3"/>
          <p:cNvSpPr>
            <a:spLocks noGrp="1"/>
          </p:cNvSpPr>
          <p:nvPr>
            <p:ph type="sldNum" sz="quarter" idx="10"/>
          </p:nvPr>
        </p:nvSpPr>
        <p:spPr bwMode="auto"/>
        <p:txBody>
          <a:bodyPr/>
          <a:lstStyle/>
          <a:p>
            <a:pPr>
              <a:defRPr/>
            </a:pPr>
            <a:fld id="{21B51E89-F71D-9252-0063-E61409B199D9}"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75806919" name="Slide Image Placeholder 1"/>
          <p:cNvSpPr>
            <a:spLocks noGrp="1" noRot="1" noChangeAspect="1"/>
          </p:cNvSpPr>
          <p:nvPr>
            <p:ph type="sldImg"/>
          </p:nvPr>
        </p:nvSpPr>
        <p:spPr bwMode="auto"/>
      </p:sp>
      <p:sp>
        <p:nvSpPr>
          <p:cNvPr id="478743245" name="Notes Placeholder 2"/>
          <p:cNvSpPr>
            <a:spLocks noGrp="1"/>
          </p:cNvSpPr>
          <p:nvPr>
            <p:ph type="body" idx="1"/>
          </p:nvPr>
        </p:nvSpPr>
        <p:spPr bwMode="auto"/>
        <p:txBody>
          <a:bodyPr/>
          <a:lstStyle/>
          <a:p>
            <a:pPr>
              <a:defRPr/>
            </a:pPr>
            <a:endParaRPr/>
          </a:p>
        </p:txBody>
      </p:sp>
      <p:sp>
        <p:nvSpPr>
          <p:cNvPr id="560619339" name="Slide Number Placeholder 3"/>
          <p:cNvSpPr>
            <a:spLocks noGrp="1"/>
          </p:cNvSpPr>
          <p:nvPr>
            <p:ph type="sldNum" sz="quarter" idx="10"/>
          </p:nvPr>
        </p:nvSpPr>
        <p:spPr bwMode="auto"/>
        <p:txBody>
          <a:bodyPr/>
          <a:lstStyle/>
          <a:p>
            <a:pPr>
              <a:defRPr/>
            </a:pPr>
            <a:fld id="{40F45CCE-FA2E-007D-E278-9CD9DDA62B17}"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99504416" name="Slide Image Placeholder 1"/>
          <p:cNvSpPr>
            <a:spLocks noGrp="1" noRot="1" noChangeAspect="1"/>
          </p:cNvSpPr>
          <p:nvPr>
            <p:ph type="sldImg"/>
          </p:nvPr>
        </p:nvSpPr>
        <p:spPr bwMode="auto"/>
      </p:sp>
      <p:sp>
        <p:nvSpPr>
          <p:cNvPr id="1457602222" name="Notes Placeholder 2"/>
          <p:cNvSpPr>
            <a:spLocks noGrp="1"/>
          </p:cNvSpPr>
          <p:nvPr>
            <p:ph type="body" idx="1"/>
          </p:nvPr>
        </p:nvSpPr>
        <p:spPr bwMode="auto"/>
        <p:txBody>
          <a:bodyPr/>
          <a:lstStyle/>
          <a:p>
            <a:pPr>
              <a:defRPr/>
            </a:pPr>
            <a:endParaRPr/>
          </a:p>
        </p:txBody>
      </p:sp>
      <p:sp>
        <p:nvSpPr>
          <p:cNvPr id="350552304" name="Slide Number Placeholder 3"/>
          <p:cNvSpPr>
            <a:spLocks noGrp="1"/>
          </p:cNvSpPr>
          <p:nvPr>
            <p:ph type="sldNum" sz="quarter" idx="10"/>
          </p:nvPr>
        </p:nvSpPr>
        <p:spPr bwMode="auto"/>
        <p:txBody>
          <a:bodyPr/>
          <a:lstStyle/>
          <a:p>
            <a:pPr>
              <a:defRPr/>
            </a:pPr>
            <a:fld id="{DA1260C9-E95D-7822-1D9F-9973706DAA5A}"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5CC06C-4856-61F3-0BF2-E27DEFF228F3}" type="slidenum">
              <a:rPr/>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obj" preserve="1" userDrawn="1">
  <p:cSld name="Title Slide">
    <p:spTree>
      <p:nvGrpSpPr>
        <p:cNvPr id="1" name=""/>
        <p:cNvGrpSpPr/>
        <p:nvPr/>
      </p:nvGrpSpPr>
      <p:grpSpPr bwMode="auto">
        <a:xfrm>
          <a:off x="0" y="0"/>
          <a:ext cx="0" cy="0"/>
          <a:chOff x="0" y="0"/>
          <a:chExt cx="0" cy="0"/>
        </a:xfrm>
      </p:grpSpPr>
      <p:sp>
        <p:nvSpPr>
          <p:cNvPr id="2018149164" name="Holder 2"/>
          <p:cNvSpPr>
            <a:spLocks noGrp="1"/>
          </p:cNvSpPr>
          <p:nvPr>
            <p:ph type="ctrTitle"/>
          </p:nvPr>
        </p:nvSpPr>
        <p:spPr bwMode="auto">
          <a:xfrm>
            <a:off x="1371600" y="3188970"/>
            <a:ext cx="15544800" cy="216027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629003789" name="Holder 3"/>
          <p:cNvSpPr>
            <a:spLocks noGrp="1"/>
          </p:cNvSpPr>
          <p:nvPr>
            <p:ph type="subTitle" idx="4"/>
          </p:nvPr>
        </p:nvSpPr>
        <p:spPr bwMode="auto">
          <a:xfrm>
            <a:off x="2743200" y="5760720"/>
            <a:ext cx="12801600" cy="2571750"/>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213754297"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678705121"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6/3/2026</a:t>
            </a:fld>
            <a:endParaRPr/>
          </a:p>
        </p:txBody>
      </p:sp>
      <p:sp>
        <p:nvSpPr>
          <p:cNvPr id="785124094"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627524495"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325639691" name="Holder 3"/>
          <p:cNvSpPr>
            <a:spLocks noGrp="1"/>
          </p:cNvSpPr>
          <p:nvPr>
            <p:ph type="body" idx="1"/>
          </p:nvPr>
        </p:nvSpPr>
        <p:spPr bwMode="auto"/>
        <p:txBody>
          <a:bodyPr lIns="0" tIns="0" rIns="0" bIns="0"/>
          <a:lstStyle>
            <a:lvl1pPr>
              <a:defRPr sz="1800" b="0" i="0">
                <a:solidFill>
                  <a:schemeClr val="tx1"/>
                </a:solidFill>
                <a:latin typeface="Calibri"/>
                <a:cs typeface="Calibri"/>
              </a:defRPr>
            </a:lvl1pPr>
          </a:lstStyle>
          <a:p>
            <a:pPr>
              <a:defRPr/>
            </a:pPr>
            <a:endParaRPr/>
          </a:p>
        </p:txBody>
      </p:sp>
      <p:sp>
        <p:nvSpPr>
          <p:cNvPr id="2139457769"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483770364"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6/3/2026</a:t>
            </a:fld>
            <a:endParaRPr/>
          </a:p>
        </p:txBody>
      </p:sp>
      <p:sp>
        <p:nvSpPr>
          <p:cNvPr id="1291913832"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wo Content">
    <p:spTree>
      <p:nvGrpSpPr>
        <p:cNvPr id="1" name=""/>
        <p:cNvGrpSpPr/>
        <p:nvPr/>
      </p:nvGrpSpPr>
      <p:grpSpPr bwMode="auto">
        <a:xfrm>
          <a:off x="0" y="0"/>
          <a:ext cx="0" cy="0"/>
          <a:chOff x="0" y="0"/>
          <a:chExt cx="0" cy="0"/>
        </a:xfrm>
      </p:grpSpPr>
      <p:sp>
        <p:nvSpPr>
          <p:cNvPr id="1112662680"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1510550572" name="Holder 3"/>
          <p:cNvSpPr>
            <a:spLocks noGrp="1"/>
          </p:cNvSpPr>
          <p:nvPr>
            <p:ph sz="half" idx="2"/>
          </p:nvPr>
        </p:nvSpPr>
        <p:spPr bwMode="auto">
          <a:xfrm>
            <a:off x="914400" y="2366010"/>
            <a:ext cx="7955280" cy="6789420"/>
          </a:xfrm>
          <a:prstGeom prst="rect">
            <a:avLst/>
          </a:prstGeom>
        </p:spPr>
        <p:txBody>
          <a:bodyPr wrap="square" lIns="0" tIns="0" rIns="0" bIns="0">
            <a:spAutoFit/>
          </a:bodyPr>
          <a:lstStyle>
            <a:lvl1pPr>
              <a:defRPr/>
            </a:lvl1pPr>
          </a:lstStyle>
          <a:p>
            <a:pPr>
              <a:defRPr/>
            </a:pPr>
            <a:endParaRPr/>
          </a:p>
        </p:txBody>
      </p:sp>
      <p:sp>
        <p:nvSpPr>
          <p:cNvPr id="1443120115" name="Holder 4"/>
          <p:cNvSpPr>
            <a:spLocks noGrp="1"/>
          </p:cNvSpPr>
          <p:nvPr>
            <p:ph sz="half" idx="3"/>
          </p:nvPr>
        </p:nvSpPr>
        <p:spPr bwMode="auto">
          <a:xfrm>
            <a:off x="9418320" y="2366010"/>
            <a:ext cx="7955280" cy="6789420"/>
          </a:xfrm>
          <a:prstGeom prst="rect">
            <a:avLst/>
          </a:prstGeom>
        </p:spPr>
        <p:txBody>
          <a:bodyPr wrap="square" lIns="0" tIns="0" rIns="0" bIns="0">
            <a:spAutoFit/>
          </a:bodyPr>
          <a:lstStyle>
            <a:lvl1pPr>
              <a:defRPr/>
            </a:lvl1pPr>
          </a:lstStyle>
          <a:p>
            <a:pPr>
              <a:defRPr/>
            </a:pPr>
            <a:endParaRPr/>
          </a:p>
        </p:txBody>
      </p:sp>
      <p:sp>
        <p:nvSpPr>
          <p:cNvPr id="924331020"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275952006"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6/3/2026</a:t>
            </a:fld>
            <a:endParaRPr/>
          </a:p>
        </p:txBody>
      </p:sp>
      <p:sp>
        <p:nvSpPr>
          <p:cNvPr id="577549689"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itle Only">
    <p:spTree>
      <p:nvGrpSpPr>
        <p:cNvPr id="1" name=""/>
        <p:cNvGrpSpPr/>
        <p:nvPr/>
      </p:nvGrpSpPr>
      <p:grpSpPr bwMode="auto">
        <a:xfrm>
          <a:off x="0" y="0"/>
          <a:ext cx="0" cy="0"/>
          <a:chOff x="0" y="0"/>
          <a:chExt cx="0" cy="0"/>
        </a:xfrm>
      </p:grpSpPr>
      <p:sp>
        <p:nvSpPr>
          <p:cNvPr id="1127847346"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748535332"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921483583"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6/3/2026</a:t>
            </a:fld>
            <a:endParaRPr/>
          </a:p>
        </p:txBody>
      </p:sp>
      <p:sp>
        <p:nvSpPr>
          <p:cNvPr id="43323899"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obj" preserve="1" userDrawn="1">
  <p:cSld name="Blank">
    <p:bg>
      <p:bgPr>
        <a:solidFill>
          <a:schemeClr val="bg1"/>
        </a:solidFill>
        <a:effectLst/>
      </p:bgPr>
    </p:bg>
    <p:spTree>
      <p:nvGrpSpPr>
        <p:cNvPr id="1" name=""/>
        <p:cNvGrpSpPr/>
        <p:nvPr/>
      </p:nvGrpSpPr>
      <p:grpSpPr bwMode="auto">
        <a:xfrm>
          <a:off x="0" y="0"/>
          <a:ext cx="0" cy="0"/>
          <a:chOff x="0" y="0"/>
          <a:chExt cx="0" cy="0"/>
        </a:xfrm>
      </p:grpSpPr>
      <p:pic>
        <p:nvPicPr>
          <p:cNvPr id="169982878" name="bg object 16"/>
          <p:cNvPicPr/>
          <p:nvPr/>
        </p:nvPicPr>
        <p:blipFill rotWithShape="1">
          <a:blip r:embed="rId2"/>
          <a:stretch/>
        </p:blipFill>
        <p:spPr bwMode="auto">
          <a:xfrm>
            <a:off x="0" y="0"/>
            <a:ext cx="18288000" cy="10287000"/>
          </a:xfrm>
          <a:prstGeom prst="rect">
            <a:avLst/>
          </a:prstGeom>
        </p:spPr>
      </p:pic>
      <p:sp>
        <p:nvSpPr>
          <p:cNvPr id="427546125"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330167427"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6/3/2026</a:t>
            </a:fld>
            <a:endParaRPr/>
          </a:p>
        </p:txBody>
      </p:sp>
      <p:sp>
        <p:nvSpPr>
          <p:cNvPr id="509676551"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pic>
        <p:nvPicPr>
          <p:cNvPr id="1593465348" name="bg object 16"/>
          <p:cNvPicPr/>
          <p:nvPr/>
        </p:nvPicPr>
        <p:blipFill rotWithShape="1">
          <a:blip r:embed="rId7"/>
          <a:stretch/>
        </p:blipFill>
        <p:spPr bwMode="auto">
          <a:xfrm>
            <a:off x="0" y="0"/>
            <a:ext cx="18288000" cy="10287000"/>
          </a:xfrm>
          <a:prstGeom prst="rect">
            <a:avLst/>
          </a:prstGeom>
        </p:spPr>
      </p:pic>
      <p:sp>
        <p:nvSpPr>
          <p:cNvPr id="2129486492" name="Holder 2"/>
          <p:cNvSpPr>
            <a:spLocks noGrp="1"/>
          </p:cNvSpPr>
          <p:nvPr>
            <p:ph type="title"/>
          </p:nvPr>
        </p:nvSpPr>
        <p:spPr bwMode="auto">
          <a:xfrm>
            <a:off x="1212644" y="475122"/>
            <a:ext cx="10993755" cy="42164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336246971" name="Holder 3"/>
          <p:cNvSpPr>
            <a:spLocks noGrp="1"/>
          </p:cNvSpPr>
          <p:nvPr>
            <p:ph type="body" idx="1"/>
          </p:nvPr>
        </p:nvSpPr>
        <p:spPr bwMode="auto">
          <a:xfrm>
            <a:off x="8231123" y="1590154"/>
            <a:ext cx="9259568" cy="4782184"/>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664995257" name="Holder 4"/>
          <p:cNvSpPr>
            <a:spLocks noGrp="1"/>
          </p:cNvSpPr>
          <p:nvPr>
            <p:ph type="ftr" sz="quarter" idx="5"/>
          </p:nvPr>
        </p:nvSpPr>
        <p:spPr bwMode="auto">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403906267" name="Holder 5"/>
          <p:cNvSpPr>
            <a:spLocks noGrp="1"/>
          </p:cNvSpPr>
          <p:nvPr>
            <p:ph type="dt" sz="half" idx="6"/>
          </p:nvPr>
        </p:nvSpPr>
        <p:spPr bwMode="auto">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6/3/2026</a:t>
            </a:fld>
            <a:endParaRPr/>
          </a:p>
        </p:txBody>
      </p:sp>
      <p:sp>
        <p:nvSpPr>
          <p:cNvPr id="619254908" name="Holder 6"/>
          <p:cNvSpPr>
            <a:spLocks noGrp="1"/>
          </p:cNvSpPr>
          <p:nvPr>
            <p:ph type="sldNum" sz="quarter" idx="7"/>
          </p:nvPr>
        </p:nvSpPr>
        <p:spPr bwMode="auto">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8435529" name="object 2"/>
          <p:cNvSpPr txBox="1"/>
          <p:nvPr/>
        </p:nvSpPr>
        <p:spPr bwMode="auto">
          <a:xfrm>
            <a:off x="4025952" y="1870683"/>
            <a:ext cx="8243874" cy="7525744"/>
          </a:xfrm>
          <a:prstGeom prst="rect">
            <a:avLst/>
          </a:prstGeom>
        </p:spPr>
        <p:txBody>
          <a:bodyPr vert="horz" wrap="square" lIns="0" tIns="12700" rIns="0" bIns="0" rtlCol="0">
            <a:spAutoFit/>
          </a:bodyPr>
          <a:lstStyle/>
          <a:p>
            <a:pPr marL="1582420" marR="253365" algn="ctr">
              <a:lnSpc>
                <a:spcPct val="100000"/>
              </a:lnSpc>
              <a:spcBef>
                <a:spcPts val="100"/>
              </a:spcBef>
              <a:defRPr/>
            </a:pPr>
            <a:r>
              <a:rPr sz="2400" b="1" dirty="0">
                <a:solidFill>
                  <a:srgbClr val="FFFFFF"/>
                </a:solidFill>
                <a:latin typeface="Arial"/>
                <a:cs typeface="Arial"/>
              </a:rPr>
              <a:t>Instituto</a:t>
            </a:r>
            <a:r>
              <a:rPr sz="2400" b="1" spc="-40" dirty="0">
                <a:solidFill>
                  <a:srgbClr val="FFFFFF"/>
                </a:solidFill>
                <a:latin typeface="Arial"/>
                <a:cs typeface="Arial"/>
              </a:rPr>
              <a:t> </a:t>
            </a:r>
            <a:r>
              <a:rPr sz="2400" b="1" dirty="0" err="1">
                <a:solidFill>
                  <a:srgbClr val="FFFFFF"/>
                </a:solidFill>
                <a:latin typeface="Arial"/>
                <a:cs typeface="Arial"/>
              </a:rPr>
              <a:t>Tecnológico</a:t>
            </a:r>
            <a:r>
              <a:rPr sz="2400" b="1" spc="-40" dirty="0">
                <a:solidFill>
                  <a:srgbClr val="FFFFFF"/>
                </a:solidFill>
                <a:latin typeface="Arial"/>
                <a:cs typeface="Arial"/>
              </a:rPr>
              <a:t> </a:t>
            </a:r>
            <a:r>
              <a:rPr sz="2400" b="1" dirty="0">
                <a:solidFill>
                  <a:srgbClr val="FFFFFF"/>
                </a:solidFill>
                <a:latin typeface="Arial"/>
                <a:cs typeface="Arial"/>
              </a:rPr>
              <a:t>de</a:t>
            </a:r>
            <a:r>
              <a:rPr sz="2400" b="1" spc="-40" dirty="0">
                <a:solidFill>
                  <a:srgbClr val="FFFFFF"/>
                </a:solidFill>
                <a:latin typeface="Arial"/>
                <a:cs typeface="Arial"/>
              </a:rPr>
              <a:t> </a:t>
            </a:r>
            <a:r>
              <a:rPr sz="2400" b="1" dirty="0">
                <a:solidFill>
                  <a:srgbClr val="FFFFFF"/>
                </a:solidFill>
                <a:latin typeface="Arial"/>
                <a:cs typeface="Arial"/>
              </a:rPr>
              <a:t>Frontera</a:t>
            </a:r>
            <a:r>
              <a:rPr sz="2400" b="1" spc="-35" dirty="0">
                <a:solidFill>
                  <a:srgbClr val="FFFFFF"/>
                </a:solidFill>
                <a:latin typeface="Arial"/>
                <a:cs typeface="Arial"/>
              </a:rPr>
              <a:t> </a:t>
            </a:r>
            <a:r>
              <a:rPr sz="2400" b="1" spc="-10" dirty="0" err="1">
                <a:solidFill>
                  <a:srgbClr val="FFFFFF"/>
                </a:solidFill>
                <a:latin typeface="Arial"/>
                <a:cs typeface="Arial"/>
              </a:rPr>
              <a:t>Comalapa</a:t>
            </a:r>
            <a:r>
              <a:rPr sz="2400" b="1" spc="-10" dirty="0">
                <a:solidFill>
                  <a:srgbClr val="FFFFFF"/>
                </a:solidFill>
                <a:latin typeface="Arial"/>
                <a:cs typeface="Arial"/>
              </a:rPr>
              <a:t> </a:t>
            </a:r>
            <a:r>
              <a:rPr sz="2400" b="1" dirty="0" err="1">
                <a:solidFill>
                  <a:srgbClr val="FFFFFF"/>
                </a:solidFill>
                <a:latin typeface="Arial"/>
                <a:cs typeface="Arial"/>
              </a:rPr>
              <a:t>Modalidad</a:t>
            </a:r>
            <a:r>
              <a:rPr sz="2400" b="1" spc="-15" dirty="0">
                <a:solidFill>
                  <a:srgbClr val="FFFFFF"/>
                </a:solidFill>
                <a:latin typeface="Arial"/>
                <a:cs typeface="Arial"/>
              </a:rPr>
              <a:t> </a:t>
            </a:r>
            <a:r>
              <a:rPr sz="2400" b="1" spc="-10" dirty="0">
                <a:solidFill>
                  <a:srgbClr val="FFFFFF"/>
                </a:solidFill>
                <a:latin typeface="Arial"/>
                <a:cs typeface="Arial"/>
              </a:rPr>
              <a:t>Mixta</a:t>
            </a:r>
            <a:endParaRPr sz="2400" dirty="0">
              <a:latin typeface="Arial"/>
              <a:cs typeface="Arial"/>
            </a:endParaRPr>
          </a:p>
          <a:p>
            <a:pPr>
              <a:lnSpc>
                <a:spcPct val="100000"/>
              </a:lnSpc>
              <a:spcBef>
                <a:spcPts val="355"/>
              </a:spcBef>
              <a:defRPr/>
            </a:pPr>
            <a:endParaRPr sz="2400" dirty="0">
              <a:latin typeface="Arial"/>
              <a:cs typeface="Arial"/>
            </a:endParaRPr>
          </a:p>
          <a:p>
            <a:pPr marL="1323340" algn="ctr">
              <a:lnSpc>
                <a:spcPct val="100000"/>
              </a:lnSpc>
              <a:defRPr/>
            </a:pPr>
            <a:r>
              <a:rPr sz="2600" b="1" spc="-10" dirty="0">
                <a:solidFill>
                  <a:srgbClr val="FFFFFF"/>
                </a:solidFill>
                <a:latin typeface="Arial"/>
                <a:cs typeface="Arial"/>
              </a:rPr>
              <a:t>Materia:</a:t>
            </a:r>
            <a:endParaRPr sz="2600" dirty="0">
              <a:latin typeface="Arial"/>
              <a:cs typeface="Arial"/>
            </a:endParaRPr>
          </a:p>
          <a:p>
            <a:pPr marL="1322070" algn="ctr">
              <a:lnSpc>
                <a:spcPct val="100000"/>
              </a:lnSpc>
              <a:defRPr/>
            </a:pPr>
            <a:r>
              <a:rPr sz="2600" spc="-10" dirty="0" err="1">
                <a:solidFill>
                  <a:srgbClr val="FFFFFF"/>
                </a:solidFill>
                <a:latin typeface="Arial"/>
                <a:cs typeface="Arial"/>
              </a:rPr>
              <a:t>Administración</a:t>
            </a:r>
            <a:r>
              <a:rPr sz="2600" spc="-60" dirty="0">
                <a:solidFill>
                  <a:srgbClr val="FFFFFF"/>
                </a:solidFill>
                <a:latin typeface="Arial"/>
                <a:cs typeface="Arial"/>
              </a:rPr>
              <a:t> </a:t>
            </a:r>
            <a:r>
              <a:rPr sz="2600" dirty="0">
                <a:solidFill>
                  <a:srgbClr val="FFFFFF"/>
                </a:solidFill>
                <a:latin typeface="Arial"/>
                <a:cs typeface="Arial"/>
              </a:rPr>
              <a:t>de</a:t>
            </a:r>
            <a:r>
              <a:rPr sz="2600" spc="-55" dirty="0">
                <a:solidFill>
                  <a:srgbClr val="FFFFFF"/>
                </a:solidFill>
                <a:latin typeface="Arial"/>
                <a:cs typeface="Arial"/>
              </a:rPr>
              <a:t> </a:t>
            </a:r>
            <a:r>
              <a:rPr sz="2600" dirty="0">
                <a:solidFill>
                  <a:srgbClr val="FFFFFF"/>
                </a:solidFill>
                <a:latin typeface="Arial"/>
                <a:cs typeface="Arial"/>
              </a:rPr>
              <a:t>base</a:t>
            </a:r>
            <a:r>
              <a:rPr sz="2600" spc="-55" dirty="0">
                <a:solidFill>
                  <a:srgbClr val="FFFFFF"/>
                </a:solidFill>
                <a:latin typeface="Arial"/>
                <a:cs typeface="Arial"/>
              </a:rPr>
              <a:t> </a:t>
            </a:r>
            <a:r>
              <a:rPr sz="2600" dirty="0">
                <a:solidFill>
                  <a:srgbClr val="FFFFFF"/>
                </a:solidFill>
                <a:latin typeface="Arial"/>
                <a:cs typeface="Arial"/>
              </a:rPr>
              <a:t>de</a:t>
            </a:r>
            <a:r>
              <a:rPr sz="2600" spc="-60" dirty="0">
                <a:solidFill>
                  <a:srgbClr val="FFFFFF"/>
                </a:solidFill>
                <a:latin typeface="Arial"/>
                <a:cs typeface="Arial"/>
              </a:rPr>
              <a:t> </a:t>
            </a:r>
            <a:r>
              <a:rPr sz="2600" spc="-10" dirty="0" err="1">
                <a:solidFill>
                  <a:srgbClr val="FFFFFF"/>
                </a:solidFill>
                <a:latin typeface="Arial"/>
                <a:cs typeface="Arial"/>
              </a:rPr>
              <a:t>datos</a:t>
            </a:r>
            <a:endParaRPr sz="2600" dirty="0">
              <a:latin typeface="Arial"/>
              <a:cs typeface="Arial"/>
            </a:endParaRPr>
          </a:p>
          <a:p>
            <a:pPr marL="3627754" marR="2297430" indent="1905" algn="ctr">
              <a:lnSpc>
                <a:spcPct val="100000"/>
              </a:lnSpc>
              <a:defRPr/>
            </a:pPr>
            <a:r>
              <a:rPr sz="2600" b="1" spc="-10" dirty="0" err="1">
                <a:solidFill>
                  <a:srgbClr val="FFFFFF"/>
                </a:solidFill>
                <a:latin typeface="Arial"/>
                <a:cs typeface="Arial"/>
              </a:rPr>
              <a:t>Semestre</a:t>
            </a:r>
            <a:r>
              <a:rPr sz="2600" b="1" spc="-10" dirty="0">
                <a:solidFill>
                  <a:srgbClr val="FFFFFF"/>
                </a:solidFill>
                <a:latin typeface="Arial"/>
                <a:cs typeface="Arial"/>
              </a:rPr>
              <a:t>: </a:t>
            </a:r>
            <a:r>
              <a:rPr sz="2600" dirty="0">
                <a:solidFill>
                  <a:srgbClr val="FFFFFF"/>
                </a:solidFill>
                <a:latin typeface="Arial"/>
                <a:cs typeface="Arial"/>
              </a:rPr>
              <a:t>Sexto</a:t>
            </a:r>
            <a:r>
              <a:rPr sz="2600" spc="-80" dirty="0">
                <a:solidFill>
                  <a:srgbClr val="FFFFFF"/>
                </a:solidFill>
                <a:latin typeface="Arial"/>
                <a:cs typeface="Arial"/>
              </a:rPr>
              <a:t> </a:t>
            </a:r>
            <a:r>
              <a:rPr sz="2600" spc="-10" dirty="0" err="1">
                <a:solidFill>
                  <a:srgbClr val="FFFFFF"/>
                </a:solidFill>
                <a:latin typeface="Arial"/>
                <a:cs typeface="Arial"/>
              </a:rPr>
              <a:t>semestre</a:t>
            </a:r>
            <a:r>
              <a:rPr sz="2600" spc="-10" dirty="0">
                <a:solidFill>
                  <a:srgbClr val="FFFFFF"/>
                </a:solidFill>
                <a:latin typeface="Arial"/>
                <a:cs typeface="Arial"/>
              </a:rPr>
              <a:t> </a:t>
            </a:r>
            <a:r>
              <a:rPr sz="2600" b="1" spc="-10" dirty="0" err="1">
                <a:solidFill>
                  <a:srgbClr val="FFFFFF"/>
                </a:solidFill>
                <a:latin typeface="Arial"/>
                <a:cs typeface="Arial"/>
              </a:rPr>
              <a:t>Especialidad</a:t>
            </a:r>
            <a:r>
              <a:rPr sz="2600" b="1" spc="-10" dirty="0">
                <a:solidFill>
                  <a:srgbClr val="FFFFFF"/>
                </a:solidFill>
                <a:latin typeface="Arial"/>
                <a:cs typeface="Arial"/>
              </a:rPr>
              <a:t>:</a:t>
            </a:r>
            <a:endParaRPr sz="2600" dirty="0">
              <a:latin typeface="Arial"/>
              <a:cs typeface="Arial"/>
            </a:endParaRPr>
          </a:p>
          <a:p>
            <a:pPr marL="1317625" algn="ctr">
              <a:lnSpc>
                <a:spcPct val="100000"/>
              </a:lnSpc>
              <a:defRPr/>
            </a:pPr>
            <a:r>
              <a:rPr sz="2600" dirty="0" err="1">
                <a:solidFill>
                  <a:srgbClr val="FFFFFF"/>
                </a:solidFill>
                <a:latin typeface="Arial"/>
                <a:cs typeface="Arial"/>
              </a:rPr>
              <a:t>Ingeniería</a:t>
            </a:r>
            <a:r>
              <a:rPr sz="2600" spc="-95" dirty="0">
                <a:solidFill>
                  <a:srgbClr val="FFFFFF"/>
                </a:solidFill>
                <a:latin typeface="Arial"/>
                <a:cs typeface="Arial"/>
              </a:rPr>
              <a:t> </a:t>
            </a:r>
            <a:r>
              <a:rPr sz="2600" dirty="0" err="1">
                <a:solidFill>
                  <a:srgbClr val="FFFFFF"/>
                </a:solidFill>
                <a:latin typeface="Arial"/>
                <a:cs typeface="Arial"/>
              </a:rPr>
              <a:t>en</a:t>
            </a:r>
            <a:r>
              <a:rPr sz="2600" spc="-90" dirty="0">
                <a:solidFill>
                  <a:srgbClr val="FFFFFF"/>
                </a:solidFill>
                <a:latin typeface="Arial"/>
                <a:cs typeface="Arial"/>
              </a:rPr>
              <a:t> </a:t>
            </a:r>
            <a:r>
              <a:rPr sz="2600" dirty="0" err="1">
                <a:solidFill>
                  <a:srgbClr val="FFFFFF"/>
                </a:solidFill>
                <a:latin typeface="Arial"/>
                <a:cs typeface="Arial"/>
              </a:rPr>
              <a:t>Sistemas</a:t>
            </a:r>
            <a:r>
              <a:rPr sz="2600" spc="-95" dirty="0">
                <a:solidFill>
                  <a:srgbClr val="FFFFFF"/>
                </a:solidFill>
                <a:latin typeface="Arial"/>
                <a:cs typeface="Arial"/>
              </a:rPr>
              <a:t> </a:t>
            </a:r>
            <a:r>
              <a:rPr sz="2600" spc="-10" dirty="0" err="1">
                <a:solidFill>
                  <a:srgbClr val="FFFFFF"/>
                </a:solidFill>
                <a:latin typeface="Arial"/>
                <a:cs typeface="Arial"/>
              </a:rPr>
              <a:t>Computacionales</a:t>
            </a:r>
            <a:r>
              <a:rPr sz="2600" spc="-10" dirty="0">
                <a:solidFill>
                  <a:srgbClr val="FFFFFF"/>
                </a:solidFill>
                <a:latin typeface="Arial"/>
                <a:cs typeface="Arial"/>
              </a:rPr>
              <a:t>.</a:t>
            </a:r>
            <a:endParaRPr sz="2600" dirty="0">
              <a:latin typeface="Arial"/>
              <a:cs typeface="Arial"/>
            </a:endParaRPr>
          </a:p>
          <a:p>
            <a:pPr marL="1322705" algn="ctr">
              <a:lnSpc>
                <a:spcPct val="100000"/>
              </a:lnSpc>
              <a:defRPr/>
            </a:pPr>
            <a:r>
              <a:rPr sz="2600" b="1" dirty="0" err="1">
                <a:solidFill>
                  <a:srgbClr val="FFFFFF"/>
                </a:solidFill>
                <a:latin typeface="Arial"/>
                <a:cs typeface="Arial"/>
              </a:rPr>
              <a:t>Numero</a:t>
            </a:r>
            <a:r>
              <a:rPr sz="2600" b="1" spc="-50" dirty="0">
                <a:solidFill>
                  <a:srgbClr val="FFFFFF"/>
                </a:solidFill>
                <a:latin typeface="Arial"/>
                <a:cs typeface="Arial"/>
              </a:rPr>
              <a:t> </a:t>
            </a:r>
            <a:r>
              <a:rPr sz="2600" b="1" dirty="0">
                <a:solidFill>
                  <a:srgbClr val="FFFFFF"/>
                </a:solidFill>
                <a:latin typeface="Arial"/>
                <a:cs typeface="Arial"/>
              </a:rPr>
              <a:t>de</a:t>
            </a:r>
            <a:r>
              <a:rPr sz="2600" b="1" spc="-50" dirty="0">
                <a:solidFill>
                  <a:srgbClr val="FFFFFF"/>
                </a:solidFill>
                <a:latin typeface="Arial"/>
                <a:cs typeface="Arial"/>
              </a:rPr>
              <a:t> </a:t>
            </a:r>
            <a:r>
              <a:rPr sz="2600" b="1" spc="-10" dirty="0">
                <a:solidFill>
                  <a:srgbClr val="FFFFFF"/>
                </a:solidFill>
                <a:latin typeface="Arial"/>
                <a:cs typeface="Arial"/>
              </a:rPr>
              <a:t>control:</a:t>
            </a:r>
            <a:endParaRPr sz="2600" dirty="0">
              <a:latin typeface="Arial"/>
              <a:cs typeface="Arial"/>
            </a:endParaRPr>
          </a:p>
          <a:p>
            <a:pPr marL="1323974" algn="ctr">
              <a:lnSpc>
                <a:spcPct val="100000"/>
              </a:lnSpc>
              <a:defRPr/>
            </a:pPr>
            <a:r>
              <a:rPr sz="2600" spc="-10" dirty="0">
                <a:solidFill>
                  <a:srgbClr val="FFFFFF"/>
                </a:solidFill>
                <a:latin typeface="Arial"/>
                <a:cs typeface="Arial"/>
              </a:rPr>
              <a:t>231260005</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alumno</a:t>
            </a:r>
            <a:r>
              <a:rPr sz="2600" b="1" spc="-10" dirty="0">
                <a:solidFill>
                  <a:srgbClr val="FFFFFF"/>
                </a:solidFill>
                <a:latin typeface="Arial"/>
                <a:cs typeface="Arial"/>
              </a:rPr>
              <a:t>:</a:t>
            </a:r>
            <a:endParaRPr sz="2600" dirty="0">
              <a:latin typeface="Arial"/>
              <a:cs typeface="Arial"/>
            </a:endParaRPr>
          </a:p>
          <a:p>
            <a:pPr marL="1323340" algn="ctr">
              <a:lnSpc>
                <a:spcPct val="100000"/>
              </a:lnSpc>
              <a:defRPr/>
            </a:pPr>
            <a:r>
              <a:rPr sz="2600" dirty="0">
                <a:solidFill>
                  <a:srgbClr val="FFFFFF"/>
                </a:solidFill>
                <a:latin typeface="Arial"/>
                <a:cs typeface="Arial"/>
              </a:rPr>
              <a:t>Eddi</a:t>
            </a:r>
            <a:r>
              <a:rPr sz="2600" spc="-60" dirty="0">
                <a:solidFill>
                  <a:srgbClr val="FFFFFF"/>
                </a:solidFill>
                <a:latin typeface="Arial"/>
                <a:cs typeface="Arial"/>
              </a:rPr>
              <a:t> </a:t>
            </a:r>
            <a:r>
              <a:rPr sz="2600" dirty="0">
                <a:solidFill>
                  <a:srgbClr val="FFFFFF"/>
                </a:solidFill>
                <a:latin typeface="Arial"/>
                <a:cs typeface="Arial"/>
              </a:rPr>
              <a:t>Uriel</a:t>
            </a:r>
            <a:r>
              <a:rPr sz="2600" spc="-55" dirty="0">
                <a:solidFill>
                  <a:srgbClr val="FFFFFF"/>
                </a:solidFill>
                <a:latin typeface="Arial"/>
                <a:cs typeface="Arial"/>
              </a:rPr>
              <a:t> </a:t>
            </a:r>
            <a:r>
              <a:rPr sz="2600" dirty="0">
                <a:solidFill>
                  <a:srgbClr val="FFFFFF"/>
                </a:solidFill>
                <a:latin typeface="Arial"/>
                <a:cs typeface="Arial"/>
              </a:rPr>
              <a:t>Castillo</a:t>
            </a:r>
            <a:r>
              <a:rPr sz="2600" spc="-55" dirty="0">
                <a:solidFill>
                  <a:srgbClr val="FFFFFF"/>
                </a:solidFill>
                <a:latin typeface="Arial"/>
                <a:cs typeface="Arial"/>
              </a:rPr>
              <a:t> </a:t>
            </a:r>
            <a:r>
              <a:rPr sz="2600" spc="-10" dirty="0">
                <a:solidFill>
                  <a:srgbClr val="FFFFFF"/>
                </a:solidFill>
                <a:latin typeface="Arial"/>
                <a:cs typeface="Arial"/>
              </a:rPr>
              <a:t>Sánchez</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docente</a:t>
            </a:r>
            <a:r>
              <a:rPr sz="2600" b="1" spc="-10" dirty="0">
                <a:solidFill>
                  <a:srgbClr val="FFFFFF"/>
                </a:solidFill>
                <a:latin typeface="Arial"/>
                <a:cs typeface="Arial"/>
              </a:rPr>
              <a:t>:</a:t>
            </a:r>
            <a:endParaRPr sz="2600" dirty="0">
              <a:latin typeface="Arial"/>
              <a:cs typeface="Arial"/>
            </a:endParaRPr>
          </a:p>
          <a:p>
            <a:pPr marL="1323974" algn="ctr">
              <a:lnSpc>
                <a:spcPct val="100000"/>
              </a:lnSpc>
              <a:defRPr/>
            </a:pPr>
            <a:r>
              <a:rPr sz="2600" dirty="0">
                <a:solidFill>
                  <a:srgbClr val="FFFFFF"/>
                </a:solidFill>
                <a:latin typeface="Arial"/>
                <a:cs typeface="Arial"/>
              </a:rPr>
              <a:t>Francisco</a:t>
            </a:r>
            <a:r>
              <a:rPr sz="2600" spc="-100" dirty="0">
                <a:solidFill>
                  <a:srgbClr val="FFFFFF"/>
                </a:solidFill>
                <a:latin typeface="Arial"/>
                <a:cs typeface="Arial"/>
              </a:rPr>
              <a:t> </a:t>
            </a:r>
            <a:r>
              <a:rPr sz="2600" dirty="0">
                <a:solidFill>
                  <a:srgbClr val="FFFFFF"/>
                </a:solidFill>
                <a:latin typeface="Arial"/>
                <a:cs typeface="Arial"/>
              </a:rPr>
              <a:t>Javier</a:t>
            </a:r>
            <a:r>
              <a:rPr sz="2600" spc="-95" dirty="0">
                <a:solidFill>
                  <a:srgbClr val="FFFFFF"/>
                </a:solidFill>
                <a:latin typeface="Arial"/>
                <a:cs typeface="Arial"/>
              </a:rPr>
              <a:t> </a:t>
            </a:r>
            <a:r>
              <a:rPr sz="2600" dirty="0">
                <a:solidFill>
                  <a:srgbClr val="FFFFFF"/>
                </a:solidFill>
                <a:latin typeface="Arial"/>
                <a:cs typeface="Arial"/>
              </a:rPr>
              <a:t>Mingo</a:t>
            </a:r>
            <a:r>
              <a:rPr sz="2600" spc="-100" dirty="0">
                <a:solidFill>
                  <a:srgbClr val="FFFFFF"/>
                </a:solidFill>
                <a:latin typeface="Arial"/>
                <a:cs typeface="Arial"/>
              </a:rPr>
              <a:t> </a:t>
            </a:r>
            <a:r>
              <a:rPr sz="2600" spc="-10" dirty="0">
                <a:solidFill>
                  <a:srgbClr val="FFFFFF"/>
                </a:solidFill>
                <a:latin typeface="Arial"/>
                <a:cs typeface="Arial"/>
              </a:rPr>
              <a:t>Velazquez</a:t>
            </a:r>
            <a:endParaRPr sz="2600" dirty="0">
              <a:latin typeface="Arial"/>
              <a:cs typeface="Arial"/>
            </a:endParaRPr>
          </a:p>
          <a:p>
            <a:pPr marL="1322705"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trabajo</a:t>
            </a:r>
            <a:r>
              <a:rPr sz="2600" b="1" spc="-10" dirty="0">
                <a:solidFill>
                  <a:srgbClr val="FFFFFF"/>
                </a:solidFill>
                <a:latin typeface="Arial"/>
                <a:cs typeface="Arial"/>
              </a:rPr>
              <a:t>:</a:t>
            </a:r>
            <a:endParaRPr sz="2600" dirty="0">
              <a:latin typeface="Arial"/>
              <a:cs typeface="Arial"/>
            </a:endParaRPr>
          </a:p>
          <a:p>
            <a:pPr marL="1321435" algn="ctr">
              <a:lnSpc>
                <a:spcPct val="100000"/>
              </a:lnSpc>
              <a:defRPr/>
            </a:pPr>
            <a:r>
              <a:rPr sz="2600" dirty="0">
                <a:solidFill>
                  <a:srgbClr val="FFFFFF"/>
                </a:solidFill>
                <a:latin typeface="Arial"/>
                <a:cs typeface="Arial"/>
              </a:rPr>
              <a:t>Act</a:t>
            </a:r>
            <a:r>
              <a:rPr sz="2600" spc="-60" dirty="0">
                <a:solidFill>
                  <a:srgbClr val="FFFFFF"/>
                </a:solidFill>
                <a:latin typeface="Arial"/>
                <a:cs typeface="Arial"/>
              </a:rPr>
              <a:t> </a:t>
            </a:r>
            <a:r>
              <a:rPr lang="es-ES" sz="2600" spc="-10" dirty="0">
                <a:solidFill>
                  <a:srgbClr val="FFFFFF"/>
                </a:solidFill>
                <a:latin typeface="Arial"/>
                <a:cs typeface="Arial"/>
              </a:rPr>
              <a:t>2.3 Banco de ejercicios</a:t>
            </a:r>
            <a:endParaRPr sz="2600" dirty="0">
              <a:latin typeface="Arial"/>
              <a:cs typeface="Arial"/>
            </a:endParaRPr>
          </a:p>
          <a:p>
            <a:pPr marL="1324610" algn="ctr">
              <a:lnSpc>
                <a:spcPts val="3120"/>
              </a:lnSpc>
              <a:defRPr/>
            </a:pPr>
            <a:r>
              <a:rPr sz="2600" b="1" dirty="0" err="1">
                <a:solidFill>
                  <a:srgbClr val="FFFFFF"/>
                </a:solidFill>
                <a:latin typeface="Arial"/>
                <a:cs typeface="Arial"/>
              </a:rPr>
              <a:t>Fecha</a:t>
            </a:r>
            <a:r>
              <a:rPr sz="2600" b="1" spc="-45" dirty="0">
                <a:solidFill>
                  <a:srgbClr val="FFFFFF"/>
                </a:solidFill>
                <a:latin typeface="Arial"/>
                <a:cs typeface="Arial"/>
              </a:rPr>
              <a:t> </a:t>
            </a:r>
            <a:r>
              <a:rPr sz="2600" b="1" dirty="0">
                <a:solidFill>
                  <a:srgbClr val="FFFFFF"/>
                </a:solidFill>
                <a:latin typeface="Arial"/>
                <a:cs typeface="Arial"/>
              </a:rPr>
              <a:t>de</a:t>
            </a:r>
            <a:r>
              <a:rPr sz="2600" b="1" spc="-40" dirty="0">
                <a:solidFill>
                  <a:srgbClr val="FFFFFF"/>
                </a:solidFill>
                <a:latin typeface="Arial"/>
                <a:cs typeface="Arial"/>
              </a:rPr>
              <a:t> </a:t>
            </a:r>
            <a:r>
              <a:rPr sz="2600" b="1" spc="-10" dirty="0" err="1">
                <a:solidFill>
                  <a:srgbClr val="FFFFFF"/>
                </a:solidFill>
                <a:latin typeface="Arial"/>
                <a:cs typeface="Arial"/>
              </a:rPr>
              <a:t>entrega</a:t>
            </a:r>
            <a:r>
              <a:rPr sz="2600" spc="-10" dirty="0">
                <a:solidFill>
                  <a:srgbClr val="FFFFFF"/>
                </a:solidFill>
                <a:latin typeface="Arial"/>
                <a:cs typeface="Arial"/>
              </a:rPr>
              <a:t>:</a:t>
            </a:r>
            <a:endParaRPr sz="2600" dirty="0">
              <a:latin typeface="Arial"/>
              <a:cs typeface="Arial"/>
            </a:endParaRPr>
          </a:p>
          <a:p>
            <a:pPr algn="ctr">
              <a:lnSpc>
                <a:spcPts val="3360"/>
              </a:lnSpc>
              <a:defRPr/>
            </a:pPr>
            <a:r>
              <a:rPr sz="2800" dirty="0">
                <a:solidFill>
                  <a:srgbClr val="FFFFFF"/>
                </a:solidFill>
                <a:latin typeface="Arial"/>
                <a:cs typeface="Arial"/>
              </a:rPr>
              <a:t>Frontera</a:t>
            </a:r>
            <a:r>
              <a:rPr sz="2800" spc="-80" dirty="0">
                <a:solidFill>
                  <a:srgbClr val="FFFFFF"/>
                </a:solidFill>
                <a:latin typeface="Arial"/>
                <a:cs typeface="Arial"/>
              </a:rPr>
              <a:t> </a:t>
            </a:r>
            <a:r>
              <a:rPr sz="2800" dirty="0" err="1">
                <a:solidFill>
                  <a:srgbClr val="FFFFFF"/>
                </a:solidFill>
                <a:latin typeface="Arial"/>
                <a:cs typeface="Arial"/>
              </a:rPr>
              <a:t>comalapa</a:t>
            </a:r>
            <a:r>
              <a:rPr sz="2800" dirty="0">
                <a:solidFill>
                  <a:srgbClr val="FFFFFF"/>
                </a:solidFill>
                <a:latin typeface="Arial"/>
                <a:cs typeface="Arial"/>
              </a:rPr>
              <a:t>,</a:t>
            </a:r>
            <a:r>
              <a:rPr sz="2800" spc="-80" dirty="0">
                <a:solidFill>
                  <a:srgbClr val="FFFFFF"/>
                </a:solidFill>
                <a:latin typeface="Arial"/>
                <a:cs typeface="Arial"/>
              </a:rPr>
              <a:t> </a:t>
            </a:r>
            <a:r>
              <a:rPr sz="2800" dirty="0">
                <a:solidFill>
                  <a:srgbClr val="FFFFFF"/>
                </a:solidFill>
                <a:latin typeface="Arial"/>
                <a:cs typeface="Arial"/>
              </a:rPr>
              <a:t>Chiapas</a:t>
            </a:r>
            <a:r>
              <a:rPr sz="2800" spc="-75" dirty="0">
                <a:solidFill>
                  <a:srgbClr val="FFFFFF"/>
                </a:solidFill>
                <a:latin typeface="Arial"/>
                <a:cs typeface="Arial"/>
              </a:rPr>
              <a:t> </a:t>
            </a:r>
            <a:r>
              <a:rPr sz="2800" dirty="0">
                <a:solidFill>
                  <a:srgbClr val="FFFFFF"/>
                </a:solidFill>
                <a:latin typeface="Arial"/>
                <a:cs typeface="Arial"/>
              </a:rPr>
              <a:t>a</a:t>
            </a:r>
            <a:r>
              <a:rPr sz="2800" spc="-80" dirty="0">
                <a:solidFill>
                  <a:srgbClr val="FFFFFF"/>
                </a:solidFill>
                <a:latin typeface="Arial"/>
                <a:cs typeface="Arial"/>
              </a:rPr>
              <a:t> </a:t>
            </a:r>
            <a:r>
              <a:rPr lang="es-ES" sz="2800" spc="-74" dirty="0">
                <a:solidFill>
                  <a:srgbClr val="FFFFFF"/>
                </a:solidFill>
                <a:latin typeface="Arial"/>
                <a:cs typeface="Arial"/>
              </a:rPr>
              <a:t>07</a:t>
            </a:r>
            <a:r>
              <a:rPr sz="2800" spc="-75" dirty="0">
                <a:solidFill>
                  <a:srgbClr val="FFFFFF"/>
                </a:solidFill>
                <a:latin typeface="Arial"/>
                <a:cs typeface="Arial"/>
              </a:rPr>
              <a:t> </a:t>
            </a:r>
            <a:r>
              <a:rPr sz="2800" dirty="0">
                <a:solidFill>
                  <a:srgbClr val="FFFFFF"/>
                </a:solidFill>
                <a:latin typeface="Arial"/>
                <a:cs typeface="Arial"/>
              </a:rPr>
              <a:t>de</a:t>
            </a:r>
            <a:r>
              <a:rPr sz="2800" spc="-80" dirty="0">
                <a:solidFill>
                  <a:srgbClr val="FFFFFF"/>
                </a:solidFill>
                <a:latin typeface="Arial"/>
                <a:cs typeface="Arial"/>
              </a:rPr>
              <a:t> </a:t>
            </a:r>
            <a:r>
              <a:rPr sz="2800" dirty="0">
                <a:solidFill>
                  <a:srgbClr val="FFFFFF"/>
                </a:solidFill>
                <a:latin typeface="Arial"/>
                <a:cs typeface="Arial"/>
              </a:rPr>
              <a:t>mayo</a:t>
            </a:r>
            <a:r>
              <a:rPr sz="2800" spc="-75" dirty="0">
                <a:solidFill>
                  <a:srgbClr val="FFFFFF"/>
                </a:solidFill>
                <a:latin typeface="Arial"/>
                <a:cs typeface="Arial"/>
              </a:rPr>
              <a:t> </a:t>
            </a:r>
            <a:r>
              <a:rPr sz="2800" dirty="0">
                <a:solidFill>
                  <a:srgbClr val="FFFFFF"/>
                </a:solidFill>
                <a:latin typeface="Arial"/>
                <a:cs typeface="Arial"/>
              </a:rPr>
              <a:t>del</a:t>
            </a:r>
            <a:r>
              <a:rPr sz="2800" spc="-80" dirty="0">
                <a:solidFill>
                  <a:srgbClr val="FFFFFF"/>
                </a:solidFill>
                <a:latin typeface="Arial"/>
                <a:cs typeface="Arial"/>
              </a:rPr>
              <a:t> </a:t>
            </a:r>
            <a:r>
              <a:rPr sz="2800" spc="-20" dirty="0">
                <a:solidFill>
                  <a:srgbClr val="FFFFFF"/>
                </a:solidFill>
                <a:latin typeface="Arial"/>
                <a:cs typeface="Arial"/>
              </a:rPr>
              <a:t>2026</a:t>
            </a:r>
            <a:endParaRPr sz="2800" dirty="0">
              <a:latin typeface="Arial"/>
              <a:cs typeface="Arial"/>
            </a:endParaRPr>
          </a:p>
        </p:txBody>
      </p:sp>
      <p:pic>
        <p:nvPicPr>
          <p:cNvPr id="1917351689" name="object 3"/>
          <p:cNvPicPr/>
          <p:nvPr/>
        </p:nvPicPr>
        <p:blipFill rotWithShape="1">
          <a:blip r:embed="rId3"/>
          <a:stretch/>
        </p:blipFill>
        <p:spPr bwMode="auto">
          <a:xfrm>
            <a:off x="5830455" y="461817"/>
            <a:ext cx="5561326" cy="6330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830837920" name="object 2"/>
          <p:cNvPicPr/>
          <p:nvPr/>
        </p:nvPicPr>
        <p:blipFill rotWithShape="1">
          <a:blip r:embed="rId3"/>
          <a:stretch/>
        </p:blipFill>
        <p:spPr bwMode="auto">
          <a:xfrm>
            <a:off x="0" y="0"/>
            <a:ext cx="18288000" cy="10287000"/>
          </a:xfrm>
          <a:prstGeom prst="rect">
            <a:avLst/>
          </a:prstGeom>
        </p:spPr>
      </p:pic>
      <p:pic>
        <p:nvPicPr>
          <p:cNvPr id="1876184189" name="object 3"/>
          <p:cNvPicPr/>
          <p:nvPr/>
        </p:nvPicPr>
        <p:blipFill rotWithShape="1">
          <a:blip r:embed="rId4"/>
          <a:stretch/>
        </p:blipFill>
        <p:spPr bwMode="auto">
          <a:xfrm>
            <a:off x="10217454" y="2075217"/>
            <a:ext cx="6579146" cy="6579146"/>
          </a:xfrm>
          <a:prstGeom prst="rect">
            <a:avLst/>
          </a:prstGeom>
        </p:spPr>
      </p:pic>
      <p:pic>
        <p:nvPicPr>
          <p:cNvPr id="135897183" name="object 4"/>
          <p:cNvPicPr/>
          <p:nvPr/>
        </p:nvPicPr>
        <p:blipFill rotWithShape="1">
          <a:blip r:embed="rId5"/>
          <a:stretch/>
        </p:blipFill>
        <p:spPr bwMode="auto">
          <a:xfrm>
            <a:off x="0" y="8710282"/>
            <a:ext cx="3608796" cy="920165"/>
          </a:xfrm>
          <a:prstGeom prst="rect">
            <a:avLst/>
          </a:prstGeom>
        </p:spPr>
      </p:pic>
      <p:pic>
        <p:nvPicPr>
          <p:cNvPr id="1329934680" name="object 5"/>
          <p:cNvPicPr/>
          <p:nvPr/>
        </p:nvPicPr>
        <p:blipFill rotWithShape="1">
          <a:blip r:embed="rId6"/>
          <a:stretch/>
        </p:blipFill>
        <p:spPr bwMode="auto">
          <a:xfrm>
            <a:off x="13401929" y="0"/>
            <a:ext cx="3857421" cy="617938"/>
          </a:xfrm>
          <a:prstGeom prst="rect">
            <a:avLst/>
          </a:prstGeom>
        </p:spPr>
      </p:pic>
      <p:sp>
        <p:nvSpPr>
          <p:cNvPr id="800057142" name="object 6"/>
          <p:cNvSpPr txBox="1">
            <a:spLocks noGrp="1"/>
          </p:cNvSpPr>
          <p:nvPr>
            <p:ph type="title"/>
          </p:nvPr>
        </p:nvSpPr>
        <p:spPr bwMode="auto">
          <a:xfrm>
            <a:off x="1981200" y="963800"/>
            <a:ext cx="8663474" cy="1293219"/>
          </a:xfrm>
          <a:prstGeom prst="rect">
            <a:avLst/>
          </a:prstGeom>
        </p:spPr>
        <p:txBody>
          <a:bodyPr vert="horz" wrap="square" lIns="0" tIns="12700" rIns="0" bIns="0" rtlCol="0">
            <a:spAutoFit/>
          </a:bodyPr>
          <a:lstStyle/>
          <a:p>
            <a:pPr marL="12700">
              <a:lnSpc>
                <a:spcPct val="100000"/>
              </a:lnSpc>
              <a:spcBef>
                <a:spcPts val="100"/>
              </a:spcBef>
              <a:defRPr/>
            </a:pPr>
            <a:r>
              <a:rPr sz="8400" spc="195" dirty="0"/>
              <a:t>INTRODUCCI</a:t>
            </a:r>
            <a:r>
              <a:rPr lang="es-ES" sz="8400" spc="194" dirty="0"/>
              <a:t>O</a:t>
            </a:r>
            <a:r>
              <a:rPr sz="8400" spc="194" dirty="0"/>
              <a:t>N</a:t>
            </a:r>
            <a:endParaRPr sz="8400" dirty="0"/>
          </a:p>
        </p:txBody>
      </p:sp>
      <p:sp>
        <p:nvSpPr>
          <p:cNvPr id="1143880378" name="object 7"/>
          <p:cNvSpPr txBox="1"/>
          <p:nvPr/>
        </p:nvSpPr>
        <p:spPr bwMode="auto">
          <a:xfrm>
            <a:off x="1666607" y="4926849"/>
            <a:ext cx="6841069" cy="164824"/>
          </a:xfrm>
          <a:prstGeom prst="rect">
            <a:avLst/>
          </a:prstGeom>
        </p:spPr>
        <p:txBody>
          <a:bodyPr vert="horz" wrap="square" lIns="0" tIns="12065" rIns="0" bIns="0" rtlCol="0">
            <a:spAutoFit/>
          </a:bodyPr>
          <a:lstStyle/>
          <a:p>
            <a:pPr>
              <a:defRPr/>
            </a:pPr>
            <a:r>
              <a:rPr lang="es-ES"/>
              <a:t>kbihbih</a:t>
            </a:r>
            <a:endParaRPr/>
          </a:p>
        </p:txBody>
      </p:sp>
      <p:sp>
        <p:nvSpPr>
          <p:cNvPr id="1859957140" name="CuadroTexto 1859957139"/>
          <p:cNvSpPr txBox="1"/>
          <p:nvPr/>
        </p:nvSpPr>
        <p:spPr bwMode="auto">
          <a:xfrm>
            <a:off x="7146542" y="5021579"/>
            <a:ext cx="3994913" cy="2438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Actividad 2.3 Banco de ejercicios__EddiCastillo_6ISCM-comprimido (1) (1)</a:t>
            </a:r>
          </a:p>
        </p:txBody>
      </p:sp>
      <p:sp>
        <p:nvSpPr>
          <p:cNvPr id="3" name="CuadroTexto 2">
            <a:extLst>
              <a:ext uri="{FF2B5EF4-FFF2-40B4-BE49-F238E27FC236}">
                <a16:creationId xmlns:a16="http://schemas.microsoft.com/office/drawing/2014/main" id="{2EEF3DEF-2600-914F-DF8F-BC3EDD0C12A2}"/>
              </a:ext>
            </a:extLst>
          </p:cNvPr>
          <p:cNvSpPr txBox="1"/>
          <p:nvPr/>
        </p:nvSpPr>
        <p:spPr>
          <a:xfrm>
            <a:off x="1024149" y="3160082"/>
            <a:ext cx="9261986" cy="4893647"/>
          </a:xfrm>
          <a:prstGeom prst="rect">
            <a:avLst/>
          </a:prstGeom>
          <a:noFill/>
        </p:spPr>
        <p:txBody>
          <a:bodyPr wrap="square">
            <a:spAutoFit/>
          </a:bodyPr>
          <a:lstStyle/>
          <a:p>
            <a:r>
              <a:rPr lang="es-ES" sz="2400" dirty="0">
                <a:solidFill>
                  <a:schemeClr val="bg1"/>
                </a:solidFill>
              </a:rPr>
              <a:t>En este banco de ejercicios se realizaron diferentes prácticas relacionadas con el manejo de datos dentro de una aplicación conectada a una base de datos. Durante la actividad se trabajó con operaciones básicas como consultar, registrar, actualizar y eliminar información de estudiantes, utilizando solicitudes HTTP como GET, POST, PUT y DELETE. Estas prácticas permitieron comprender mejor cómo se comunican el servidor, la base de datos y las herramientas de prueba como Bruno. Además, se pudo observar cómo responde el sistema cuando no existen registros, cuando se agrega un nuevo estudiante o cuando se modifica la información ya guardada. Este trabajo es importante porque ayuda a reforzar los conocimientos sobre el funcionamiento de una API y su relación con una base de datos.</a:t>
            </a:r>
            <a:endParaRPr lang="es-MX" sz="24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618637018" name="object 2"/>
          <p:cNvPicPr/>
          <p:nvPr/>
        </p:nvPicPr>
        <p:blipFill rotWithShape="1">
          <a:blip r:embed="rId3"/>
          <a:stretch/>
        </p:blipFill>
        <p:spPr bwMode="auto">
          <a:xfrm>
            <a:off x="0" y="0"/>
            <a:ext cx="18288000" cy="10287000"/>
          </a:xfrm>
          <a:prstGeom prst="rect">
            <a:avLst/>
          </a:prstGeom>
        </p:spPr>
      </p:pic>
      <p:pic>
        <p:nvPicPr>
          <p:cNvPr id="1343289801" name="object 3"/>
          <p:cNvPicPr/>
          <p:nvPr/>
        </p:nvPicPr>
        <p:blipFill rotWithShape="1">
          <a:blip r:embed="rId4"/>
          <a:stretch/>
        </p:blipFill>
        <p:spPr bwMode="auto">
          <a:xfrm>
            <a:off x="10217454" y="2075217"/>
            <a:ext cx="6579146" cy="6579146"/>
          </a:xfrm>
          <a:prstGeom prst="rect">
            <a:avLst/>
          </a:prstGeom>
        </p:spPr>
      </p:pic>
      <p:pic>
        <p:nvPicPr>
          <p:cNvPr id="820845946" name="object 4"/>
          <p:cNvPicPr/>
          <p:nvPr/>
        </p:nvPicPr>
        <p:blipFill rotWithShape="1">
          <a:blip r:embed="rId5"/>
          <a:stretch/>
        </p:blipFill>
        <p:spPr bwMode="auto">
          <a:xfrm>
            <a:off x="0" y="8710282"/>
            <a:ext cx="3608796" cy="920165"/>
          </a:xfrm>
          <a:prstGeom prst="rect">
            <a:avLst/>
          </a:prstGeom>
        </p:spPr>
      </p:pic>
      <p:pic>
        <p:nvPicPr>
          <p:cNvPr id="101900535" name="object 5"/>
          <p:cNvPicPr/>
          <p:nvPr/>
        </p:nvPicPr>
        <p:blipFill rotWithShape="1">
          <a:blip r:embed="rId6"/>
          <a:stretch/>
        </p:blipFill>
        <p:spPr bwMode="auto">
          <a:xfrm>
            <a:off x="13401929" y="0"/>
            <a:ext cx="3857421" cy="617938"/>
          </a:xfrm>
          <a:prstGeom prst="rect">
            <a:avLst/>
          </a:prstGeom>
        </p:spPr>
      </p:pic>
      <p:sp>
        <p:nvSpPr>
          <p:cNvPr id="613112491" name="object 6"/>
          <p:cNvSpPr txBox="1">
            <a:spLocks noGrp="1"/>
          </p:cNvSpPr>
          <p:nvPr>
            <p:ph type="title"/>
          </p:nvPr>
        </p:nvSpPr>
        <p:spPr bwMode="auto">
          <a:xfrm>
            <a:off x="1066800" y="804127"/>
            <a:ext cx="8456295" cy="1305560"/>
          </a:xfrm>
          <a:prstGeom prst="rect">
            <a:avLst/>
          </a:prstGeom>
        </p:spPr>
        <p:txBody>
          <a:bodyPr vert="horz" wrap="square" lIns="0" tIns="12700" rIns="0" bIns="0" rtlCol="0">
            <a:spAutoFit/>
          </a:bodyPr>
          <a:lstStyle/>
          <a:p>
            <a:pPr marL="12700">
              <a:lnSpc>
                <a:spcPct val="100000"/>
              </a:lnSpc>
              <a:spcBef>
                <a:spcPts val="100"/>
              </a:spcBef>
              <a:defRPr/>
            </a:pPr>
            <a:r>
              <a:rPr sz="8400" spc="200" dirty="0"/>
              <a:t>JUSTIFICACION</a:t>
            </a:r>
            <a:endParaRPr sz="8400" dirty="0"/>
          </a:p>
        </p:txBody>
      </p:sp>
      <p:sp>
        <p:nvSpPr>
          <p:cNvPr id="1661579641" name="object 7"/>
          <p:cNvSpPr txBox="1"/>
          <p:nvPr/>
        </p:nvSpPr>
        <p:spPr bwMode="auto">
          <a:xfrm>
            <a:off x="1666607" y="4939905"/>
            <a:ext cx="6689304" cy="287379"/>
          </a:xfrm>
          <a:prstGeom prst="rect">
            <a:avLst/>
          </a:prstGeom>
        </p:spPr>
        <p:txBody>
          <a:bodyPr vert="horz" wrap="square" lIns="0" tIns="12700" rIns="0" bIns="0" rtlCol="0">
            <a:spAutoFit/>
          </a:bodyPr>
          <a:lstStyle/>
          <a:p>
            <a:pPr>
              <a:defRPr/>
            </a:pPr>
            <a:r>
              <a:rPr lang="es-ES" sz="1800"/>
              <a:t>khvgv</a:t>
            </a:r>
            <a:endParaRPr sz="1800"/>
          </a:p>
        </p:txBody>
      </p:sp>
      <p:sp>
        <p:nvSpPr>
          <p:cNvPr id="3" name="CuadroTexto 2">
            <a:extLst>
              <a:ext uri="{FF2B5EF4-FFF2-40B4-BE49-F238E27FC236}">
                <a16:creationId xmlns:a16="http://schemas.microsoft.com/office/drawing/2014/main" id="{4DFF785A-B319-4399-9602-B368BCAEB6D8}"/>
              </a:ext>
            </a:extLst>
          </p:cNvPr>
          <p:cNvSpPr txBox="1"/>
          <p:nvPr/>
        </p:nvSpPr>
        <p:spPr>
          <a:xfrm>
            <a:off x="1219200" y="2585528"/>
            <a:ext cx="9261986" cy="6124754"/>
          </a:xfrm>
          <a:prstGeom prst="rect">
            <a:avLst/>
          </a:prstGeom>
          <a:noFill/>
        </p:spPr>
        <p:txBody>
          <a:bodyPr wrap="square">
            <a:spAutoFit/>
          </a:bodyPr>
          <a:lstStyle/>
          <a:p>
            <a:r>
              <a:rPr lang="es-ES" sz="2800" dirty="0">
                <a:solidFill>
                  <a:schemeClr val="bg1"/>
                </a:solidFill>
              </a:rPr>
              <a:t>La realización de este banco de ejercicios fue importante porque permitió poner en práctica los temas vistos en clase sobre administración de bases de datos y manejo de servicios. A través de cada ejercicio se logró comprender cómo se realizan las operaciones principales que se usan en muchos sistemas reales, como consultar información, agregar nuevos registros, actualizar datos existentes y eliminar registros que ya no se necesitan. También sirvió para reforzar el uso de métodos HTTP y entender la función que cumple cada uno dentro de una aplicación. Esta actividad ayuda a desarrollar habilidades prácticas, ya que no solo se revisa la teoría, sino que se comprueba el funcionamiento del sistema mediante pruebas reales</a:t>
            </a:r>
            <a:endParaRPr lang="es-MX" sz="28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378819"/>
          </a:xfrm>
          <a:prstGeom prst="rect">
            <a:avLst/>
          </a:prstGeom>
        </p:spPr>
        <p:txBody>
          <a:bodyPr vert="horz" wrap="square" lIns="0" tIns="12700" rIns="0" bIns="0" rtlCol="0">
            <a:spAutoFit/>
          </a:bodyPr>
          <a:lstStyle/>
          <a:p>
            <a:pPr>
              <a:defRPr/>
            </a:pPr>
            <a:r>
              <a:rPr lang="es-ES" sz="2400" b="1" i="0" u="none" dirty="0">
                <a:solidFill>
                  <a:schemeClr val="bg1"/>
                </a:solidFill>
                <a:latin typeface="Arial"/>
                <a:ea typeface="Arial"/>
                <a:cs typeface="Arial"/>
              </a:rPr>
              <a:t>Ejercicio 1 </a:t>
            </a:r>
            <a:r>
              <a:rPr sz="2400" b="1" i="0" u="none" dirty="0" err="1">
                <a:solidFill>
                  <a:schemeClr val="bg1"/>
                </a:solidFill>
                <a:latin typeface="Arial"/>
                <a:ea typeface="Arial"/>
                <a:cs typeface="Arial"/>
              </a:rPr>
              <a:t>Consultar</a:t>
            </a:r>
            <a:r>
              <a:rPr sz="2400" b="1" i="0" u="none" dirty="0">
                <a:solidFill>
                  <a:schemeClr val="bg1"/>
                </a:solidFill>
                <a:latin typeface="Arial"/>
                <a:ea typeface="Arial"/>
                <a:cs typeface="Arial"/>
              </a:rPr>
              <a:t> Datos (GET </a:t>
            </a:r>
            <a:r>
              <a:rPr sz="2400" b="1" i="0" u="none" dirty="0" err="1">
                <a:solidFill>
                  <a:schemeClr val="bg1"/>
                </a:solidFill>
                <a:latin typeface="Arial"/>
                <a:ea typeface="Arial"/>
                <a:cs typeface="Arial"/>
              </a:rPr>
              <a:t>todos</a:t>
            </a:r>
            <a:r>
              <a:rPr sz="2400" b="1" i="0" u="none" dirty="0">
                <a:solidFill>
                  <a:schemeClr val="bg1"/>
                </a:solidFill>
                <a:latin typeface="Arial"/>
                <a:ea typeface="Arial"/>
                <a:cs typeface="Arial"/>
              </a:rPr>
              <a:t> </a:t>
            </a:r>
            <a:r>
              <a:rPr sz="2400" b="1" i="0" u="none" dirty="0" err="1">
                <a:solidFill>
                  <a:schemeClr val="bg1"/>
                </a:solidFill>
                <a:latin typeface="Arial"/>
                <a:ea typeface="Arial"/>
                <a:cs typeface="Arial"/>
              </a:rPr>
              <a:t>los</a:t>
            </a:r>
            <a:r>
              <a:rPr sz="2400" b="1" i="0" u="none" dirty="0">
                <a:solidFill>
                  <a:schemeClr val="bg1"/>
                </a:solidFill>
                <a:latin typeface="Arial"/>
                <a:ea typeface="Arial"/>
                <a:cs typeface="Arial"/>
              </a:rPr>
              <a:t> </a:t>
            </a:r>
            <a:r>
              <a:rPr sz="2400" b="1" i="0" u="none" dirty="0" err="1">
                <a:solidFill>
                  <a:schemeClr val="bg1"/>
                </a:solidFill>
                <a:latin typeface="Arial"/>
                <a:ea typeface="Arial"/>
                <a:cs typeface="Arial"/>
              </a:rPr>
              <a:t>estudiantes</a:t>
            </a:r>
            <a:r>
              <a:rPr sz="2400" b="1" i="0" u="none" dirty="0">
                <a:solidFill>
                  <a:schemeClr val="bg1"/>
                </a:solidFill>
                <a:latin typeface="Arial"/>
                <a:ea typeface="Arial"/>
                <a:cs typeface="Arial"/>
              </a:rPr>
              <a:t>)</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462844" y="1104996"/>
            <a:ext cx="6474604" cy="1500411"/>
          </a:xfrm>
          <a:prstGeom prst="rect">
            <a:avLst/>
          </a:prstGeom>
        </p:spPr>
        <p:txBody>
          <a:bodyPr vert="horz" wrap="square" lIns="0" tIns="12700" rIns="0" bIns="0" rtlCol="0">
            <a:spAutoFit/>
          </a:bodyPr>
          <a:lstStyle/>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En este ejercicio se practicó la búsqueda de un estudiante específico mediante su identificador único.</a:t>
            </a:r>
          </a:p>
          <a:p>
            <a:pPr algn="just">
              <a:spcAft>
                <a:spcPts val="800"/>
              </a:spcAft>
            </a:pPr>
            <a:endParaRPr lang="es-MX" dirty="0">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pic>
        <p:nvPicPr>
          <p:cNvPr id="2" name="Imagen 1">
            <a:extLst>
              <a:ext uri="{FF2B5EF4-FFF2-40B4-BE49-F238E27FC236}">
                <a16:creationId xmlns:a16="http://schemas.microsoft.com/office/drawing/2014/main" id="{E2681FE2-8C99-882C-E4AC-39F65408B1CF}"/>
              </a:ext>
            </a:extLst>
          </p:cNvPr>
          <p:cNvPicPr>
            <a:picLocks noChangeAspect="1"/>
          </p:cNvPicPr>
          <p:nvPr/>
        </p:nvPicPr>
        <p:blipFill rotWithShape="1">
          <a:blip r:embed="rId3"/>
          <a:stretch/>
        </p:blipFill>
        <p:spPr bwMode="auto">
          <a:xfrm>
            <a:off x="406428" y="2636237"/>
            <a:ext cx="9980098" cy="5014526"/>
          </a:xfrm>
          <a:prstGeom prst="rect">
            <a:avLst/>
          </a:prstGeom>
        </p:spPr>
      </p:pic>
      <p:sp>
        <p:nvSpPr>
          <p:cNvPr id="4" name="CuadroTexto 3">
            <a:extLst>
              <a:ext uri="{FF2B5EF4-FFF2-40B4-BE49-F238E27FC236}">
                <a16:creationId xmlns:a16="http://schemas.microsoft.com/office/drawing/2014/main" id="{123D20A0-B128-3A45-57CF-578D7E469E5B}"/>
              </a:ext>
            </a:extLst>
          </p:cNvPr>
          <p:cNvSpPr txBox="1"/>
          <p:nvPr/>
        </p:nvSpPr>
        <p:spPr>
          <a:xfrm>
            <a:off x="10820400" y="3850295"/>
            <a:ext cx="7238206" cy="1323439"/>
          </a:xfrm>
          <a:prstGeom prst="rect">
            <a:avLst/>
          </a:prstGeom>
          <a:noFill/>
        </p:spPr>
        <p:txBody>
          <a:bodyPr wrap="square">
            <a:spAutoFit/>
          </a:bodyPr>
          <a:lstStyle/>
          <a:p>
            <a:pPr algn="just">
              <a:spcAft>
                <a:spcPts val="800"/>
              </a:spcAft>
            </a:pPr>
            <a:r>
              <a:rPr lang="es-MX" sz="2000" dirty="0">
                <a:solidFill>
                  <a:schemeClr val="bg1"/>
                </a:solidFill>
                <a:effectLst/>
                <a:latin typeface="Arial" panose="020B0604020202020204" pitchFamily="34" charset="0"/>
                <a:ea typeface="Arial" panose="020B0604020202020204" pitchFamily="34" charset="0"/>
              </a:rPr>
              <a:t>Se recibió un arreglo JSON [ ] vacío, lo cual es el comportamiento esperado antes de registrar estudiantes. El servidor respondió correctamente indicando que la tabla existe pero aún no contiene registros.</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79703770" name="object 2"/>
          <p:cNvSpPr txBox="1">
            <a:spLocks noGrp="1"/>
          </p:cNvSpPr>
          <p:nvPr>
            <p:ph type="title"/>
          </p:nvPr>
        </p:nvSpPr>
        <p:spPr bwMode="auto">
          <a:xfrm>
            <a:off x="1212643" y="475121"/>
            <a:ext cx="11018594" cy="382155"/>
          </a:xfrm>
          <a:prstGeom prst="rect">
            <a:avLst/>
          </a:prstGeom>
        </p:spPr>
        <p:txBody>
          <a:bodyPr vert="horz" wrap="square" lIns="0" tIns="12699" rIns="0" bIns="0" rtlCol="0">
            <a:spAutoFit/>
          </a:bodyPr>
          <a:lstStyle/>
          <a:p>
            <a:pPr>
              <a:spcBef>
                <a:spcPts val="1300"/>
              </a:spcBef>
              <a:spcAft>
                <a:spcPts val="800"/>
              </a:spcAft>
            </a:pPr>
            <a:r>
              <a:rPr lang="es-MX" sz="2400" b="1" dirty="0">
                <a:effectLst/>
                <a:latin typeface="Arial" panose="020B0604020202020204" pitchFamily="34" charset="0"/>
              </a:rPr>
              <a:t>Ejercicio 2 — Registrar un Estudiante (POST)</a:t>
            </a:r>
          </a:p>
        </p:txBody>
      </p:sp>
      <p:sp>
        <p:nvSpPr>
          <p:cNvPr id="1113962303" name="object 3"/>
          <p:cNvSpPr txBox="1"/>
          <p:nvPr/>
        </p:nvSpPr>
        <p:spPr bwMode="auto">
          <a:xfrm>
            <a:off x="9015437" y="4979008"/>
            <a:ext cx="257175" cy="299719"/>
          </a:xfrm>
          <a:prstGeom prst="rect">
            <a:avLst/>
          </a:prstGeom>
        </p:spPr>
        <p:txBody>
          <a:bodyPr vert="horz" wrap="square" lIns="0" tIns="12699" rIns="0" bIns="0" rtlCol="0">
            <a:spAutoFit/>
          </a:bodyPr>
          <a:lstStyle/>
          <a:p>
            <a:pPr marL="12699">
              <a:lnSpc>
                <a:spcPct val="100000"/>
              </a:lnSpc>
              <a:spcBef>
                <a:spcPts val="99"/>
              </a:spcBef>
              <a:defRPr/>
            </a:pPr>
            <a:r>
              <a:rPr sz="1800" spc="-24">
                <a:latin typeface="Calibri"/>
                <a:cs typeface="Calibri"/>
              </a:rPr>
              <a:t>03</a:t>
            </a:r>
            <a:endParaRPr sz="1800">
              <a:latin typeface="Calibri"/>
              <a:cs typeface="Calibri"/>
            </a:endParaRPr>
          </a:p>
        </p:txBody>
      </p:sp>
      <p:sp>
        <p:nvSpPr>
          <p:cNvPr id="1583005505" name="object 4"/>
          <p:cNvSpPr txBox="1"/>
          <p:nvPr/>
        </p:nvSpPr>
        <p:spPr bwMode="auto">
          <a:xfrm>
            <a:off x="10854103" y="2191712"/>
            <a:ext cx="6446524" cy="165459"/>
          </a:xfrm>
          <a:prstGeom prst="rect">
            <a:avLst/>
          </a:prstGeom>
        </p:spPr>
        <p:txBody>
          <a:bodyPr vert="horz" wrap="square" lIns="0" tIns="12699" rIns="0" bIns="0" rtlCol="0">
            <a:spAutoFit/>
          </a:bodyPr>
          <a:lstStyle/>
          <a:p>
            <a:pPr>
              <a:defRPr/>
            </a:pPr>
            <a:r>
              <a:rPr lang="es-ES"/>
              <a:t>En nuestra col</a:t>
            </a:r>
            <a:endParaRPr/>
          </a:p>
        </p:txBody>
      </p:sp>
      <p:sp>
        <p:nvSpPr>
          <p:cNvPr id="1772827643" name="object 5"/>
          <p:cNvSpPr txBox="1"/>
          <p:nvPr/>
        </p:nvSpPr>
        <p:spPr bwMode="auto">
          <a:xfrm>
            <a:off x="1657155" y="8171561"/>
            <a:ext cx="8838549" cy="317859"/>
          </a:xfrm>
          <a:prstGeom prst="rect">
            <a:avLst/>
          </a:prstGeom>
        </p:spPr>
        <p:txBody>
          <a:bodyPr vert="horz" wrap="square" lIns="0" tIns="12699" rIns="0" bIns="0" rtlCol="0">
            <a:spAutoFit/>
          </a:bodyPr>
          <a:lstStyle/>
          <a:p>
            <a:pPr>
              <a:defRPr/>
            </a:pPr>
            <a:endParaRPr sz="2000">
              <a:solidFill>
                <a:schemeClr val="bg1"/>
              </a:solidFill>
            </a:endParaRPr>
          </a:p>
        </p:txBody>
      </p:sp>
      <p:sp>
        <p:nvSpPr>
          <p:cNvPr id="245581171" name=" 245581170"/>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927020343" name=" 927020342"/>
          <p:cNvSpPr/>
          <p:nvPr/>
        </p:nvSpPr>
        <p:spPr bwMode="auto">
          <a:xfrm>
            <a:off x="6873377" y="4960619"/>
            <a:ext cx="4541604" cy="45756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200" b="0" i="0" u="none">
                <a:solidFill>
                  <a:srgbClr val="000000"/>
                </a:solidFill>
                <a:latin typeface="Arial"/>
                <a:ea typeface="Arial"/>
                <a:cs typeface="Arial"/>
              </a:rPr>
              <a:t>Se  seleccionó la request GET Por ID en la colección de Bruno.</a:t>
            </a:r>
            <a:endParaRPr/>
          </a:p>
          <a:p>
            <a:pPr>
              <a:defRPr/>
            </a:pPr>
            <a:r>
              <a:rPr sz="1200" b="0" i="0" u="none">
                <a:solidFill>
                  <a:srgbClr val="000000"/>
                </a:solidFill>
                <a:latin typeface="Arial"/>
                <a:ea typeface="Arial"/>
                <a:cs typeface="Arial"/>
              </a:rPr>
              <a:t>En  la URL se</a:t>
            </a:r>
            <a:endParaRPr/>
          </a:p>
        </p:txBody>
      </p:sp>
      <p:pic>
        <p:nvPicPr>
          <p:cNvPr id="993388430" name="Imagen 993388429"/>
          <p:cNvPicPr>
            <a:picLocks noChangeAspect="1"/>
          </p:cNvPicPr>
          <p:nvPr/>
        </p:nvPicPr>
        <p:blipFill rotWithShape="1">
          <a:blip r:embed="rId3"/>
          <a:stretch/>
        </p:blipFill>
        <p:spPr bwMode="auto">
          <a:xfrm>
            <a:off x="442584" y="2409091"/>
            <a:ext cx="12558712" cy="6390553"/>
          </a:xfrm>
          <a:prstGeom prst="rect">
            <a:avLst/>
          </a:prstGeom>
        </p:spPr>
      </p:pic>
      <p:sp>
        <p:nvSpPr>
          <p:cNvPr id="3" name="CuadroTexto 2">
            <a:extLst>
              <a:ext uri="{FF2B5EF4-FFF2-40B4-BE49-F238E27FC236}">
                <a16:creationId xmlns:a16="http://schemas.microsoft.com/office/drawing/2014/main" id="{0ED27F84-5F99-67FB-6D48-9250088988F1}"/>
              </a:ext>
            </a:extLst>
          </p:cNvPr>
          <p:cNvSpPr txBox="1"/>
          <p:nvPr/>
        </p:nvSpPr>
        <p:spPr>
          <a:xfrm>
            <a:off x="1388575" y="1098295"/>
            <a:ext cx="9144000" cy="1200329"/>
          </a:xfrm>
          <a:prstGeom prst="rect">
            <a:avLst/>
          </a:prstGeom>
          <a:noFill/>
        </p:spPr>
        <p:txBody>
          <a:bodyPr wrap="square">
            <a:spAutoFit/>
          </a:bodyPr>
          <a:lstStyle/>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Este ejercicio consistió en insertar un nuevo registro de estudiante en la base de datos enviando datos en formato JSON mediante una solicitud POST.</a:t>
            </a:r>
          </a:p>
        </p:txBody>
      </p:sp>
      <p:sp>
        <p:nvSpPr>
          <p:cNvPr id="5" name="CuadroTexto 4">
            <a:extLst>
              <a:ext uri="{FF2B5EF4-FFF2-40B4-BE49-F238E27FC236}">
                <a16:creationId xmlns:a16="http://schemas.microsoft.com/office/drawing/2014/main" id="{DC4D2B5B-3CF4-B34D-5E32-2B407A18998F}"/>
              </a:ext>
            </a:extLst>
          </p:cNvPr>
          <p:cNvSpPr txBox="1"/>
          <p:nvPr/>
        </p:nvSpPr>
        <p:spPr>
          <a:xfrm>
            <a:off x="1729768" y="7844254"/>
            <a:ext cx="9144000" cy="1910779"/>
          </a:xfrm>
          <a:prstGeom prst="rect">
            <a:avLst/>
          </a:prstGeom>
          <a:noFill/>
        </p:spPr>
        <p:txBody>
          <a:bodyPr wrap="square">
            <a:spAutoFit/>
          </a:bodyPr>
          <a:lstStyle/>
          <a:p>
            <a:pPr>
              <a:spcBef>
                <a:spcPts val="800"/>
              </a:spcBef>
              <a:spcAft>
                <a:spcPts val="500"/>
              </a:spcAft>
            </a:pPr>
            <a:r>
              <a:rPr lang="es-MX" sz="1800" b="1" dirty="0">
                <a:effectLst/>
                <a:latin typeface="Arial" panose="020B0604020202020204" pitchFamily="34" charset="0"/>
                <a:ea typeface="Arial" panose="020B0604020202020204" pitchFamily="34" charset="0"/>
              </a:rPr>
              <a:t>Resultado obtenido:</a:t>
            </a:r>
            <a:endParaRPr lang="es-MX" sz="1800" dirty="0">
              <a:effectLst/>
              <a:latin typeface="Arial" panose="020B0604020202020204" pitchFamily="34" charset="0"/>
              <a:ea typeface="Arial" panose="020B0604020202020204" pitchFamily="34" charset="0"/>
            </a:endParaRPr>
          </a:p>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El servidor respondió con el objeto del estudiante recién creado, incluyendo su ID asignado automáticamente por la base de datos. Este registro quedó disponible para ser consultado, actualizado o eliminado en los ejercicios siguientes.</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795823" name="object 2"/>
          <p:cNvSpPr txBox="1">
            <a:spLocks noGrp="1"/>
          </p:cNvSpPr>
          <p:nvPr>
            <p:ph type="title"/>
          </p:nvPr>
        </p:nvSpPr>
        <p:spPr bwMode="auto">
          <a:xfrm>
            <a:off x="1212643" y="475121"/>
            <a:ext cx="11026874" cy="409299"/>
          </a:xfrm>
          <a:prstGeom prst="rect">
            <a:avLst/>
          </a:prstGeom>
        </p:spPr>
        <p:txBody>
          <a:bodyPr vert="horz" wrap="square" lIns="0" tIns="12699" rIns="0" bIns="0" rtlCol="0">
            <a:spAutoFit/>
          </a:bodyPr>
          <a:lstStyle/>
          <a:p>
            <a:pPr marL="12699">
              <a:lnSpc>
                <a:spcPct val="100000"/>
              </a:lnSpc>
              <a:spcBef>
                <a:spcPts val="99"/>
              </a:spcBef>
              <a:defRPr/>
            </a:pPr>
            <a:r>
              <a:rPr lang="es-ES" spc="124" dirty="0"/>
              <a:t>Ejercicio 3- </a:t>
            </a:r>
            <a:r>
              <a:rPr lang="es-MX" sz="1800" b="1" dirty="0">
                <a:effectLst/>
                <a:latin typeface="Arial" panose="020B0604020202020204" pitchFamily="34" charset="0"/>
                <a:ea typeface="Arial" panose="020B0604020202020204" pitchFamily="34" charset="0"/>
              </a:rPr>
              <a:t>Actualizar Datos de un Estudiante</a:t>
            </a:r>
            <a:r>
              <a:rPr lang="es-ES" spc="124" dirty="0"/>
              <a:t>con </a:t>
            </a:r>
            <a:r>
              <a:rPr lang="es-ES" dirty="0"/>
              <a:t>PUT </a:t>
            </a:r>
            <a:endParaRPr dirty="0"/>
          </a:p>
        </p:txBody>
      </p:sp>
      <p:sp>
        <p:nvSpPr>
          <p:cNvPr id="959652187" name="object 3"/>
          <p:cNvSpPr txBox="1"/>
          <p:nvPr/>
        </p:nvSpPr>
        <p:spPr bwMode="auto">
          <a:xfrm>
            <a:off x="9015437" y="4979008"/>
            <a:ext cx="257175" cy="299719"/>
          </a:xfrm>
          <a:prstGeom prst="rect">
            <a:avLst/>
          </a:prstGeom>
        </p:spPr>
        <p:txBody>
          <a:bodyPr vert="horz" wrap="square" lIns="0" tIns="12699" rIns="0" bIns="0" rtlCol="0">
            <a:spAutoFit/>
          </a:bodyPr>
          <a:lstStyle/>
          <a:p>
            <a:pPr marL="12699">
              <a:lnSpc>
                <a:spcPct val="100000"/>
              </a:lnSpc>
              <a:spcBef>
                <a:spcPts val="99"/>
              </a:spcBef>
              <a:defRPr/>
            </a:pPr>
            <a:r>
              <a:rPr sz="1800" spc="-24">
                <a:latin typeface="Calibri"/>
                <a:cs typeface="Calibri"/>
              </a:rPr>
              <a:t>03</a:t>
            </a:r>
            <a:endParaRPr sz="1800">
              <a:latin typeface="Calibri"/>
              <a:cs typeface="Calibri"/>
            </a:endParaRPr>
          </a:p>
        </p:txBody>
      </p:sp>
      <p:sp>
        <p:nvSpPr>
          <p:cNvPr id="1437059413" name="object 4"/>
          <p:cNvSpPr txBox="1"/>
          <p:nvPr/>
        </p:nvSpPr>
        <p:spPr bwMode="auto">
          <a:xfrm>
            <a:off x="1905000" y="1508559"/>
            <a:ext cx="6444364" cy="1243929"/>
          </a:xfrm>
          <a:prstGeom prst="rect">
            <a:avLst/>
          </a:prstGeom>
        </p:spPr>
        <p:txBody>
          <a:bodyPr vert="horz" wrap="square" lIns="0" tIns="12699" rIns="0" bIns="0" rtlCol="0">
            <a:spAutoFit/>
          </a:bodyPr>
          <a:lstStyle/>
          <a:p>
            <a:pPr algn="just">
              <a:spcAft>
                <a:spcPts val="800"/>
              </a:spcAft>
            </a:pPr>
            <a:r>
              <a:rPr lang="es-MX" sz="2000" dirty="0">
                <a:solidFill>
                  <a:schemeClr val="bg1"/>
                </a:solidFill>
                <a:effectLst/>
                <a:latin typeface="Arial" panose="020B0604020202020204" pitchFamily="34" charset="0"/>
                <a:ea typeface="Arial" panose="020B0604020202020204" pitchFamily="34" charset="0"/>
              </a:rPr>
              <a:t>El objetivo de este ejercicio fue modificar la información de un estudiante ya existente utilizando el método HTTP PUT, el cual reemplaza la totalidad de los datos del recurso.</a:t>
            </a:r>
          </a:p>
        </p:txBody>
      </p:sp>
      <p:sp>
        <p:nvSpPr>
          <p:cNvPr id="1941598521" name="object 5"/>
          <p:cNvSpPr txBox="1"/>
          <p:nvPr/>
        </p:nvSpPr>
        <p:spPr bwMode="auto">
          <a:xfrm>
            <a:off x="1657155" y="8171561"/>
            <a:ext cx="8830989" cy="256899"/>
          </a:xfrm>
          <a:prstGeom prst="rect">
            <a:avLst/>
          </a:prstGeom>
        </p:spPr>
        <p:txBody>
          <a:bodyPr vert="horz" wrap="square" lIns="0" tIns="12699" rIns="0" bIns="0" rtlCol="0">
            <a:spAutoFit/>
          </a:bodyPr>
          <a:lstStyle/>
          <a:p>
            <a:pPr>
              <a:defRPr/>
            </a:pPr>
            <a:endParaRPr sz="1600">
              <a:solidFill>
                <a:schemeClr val="bg1"/>
              </a:solidFill>
            </a:endParaRPr>
          </a:p>
        </p:txBody>
      </p:sp>
      <p:sp>
        <p:nvSpPr>
          <p:cNvPr id="2022398016" name=" 2022398015"/>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pic>
        <p:nvPicPr>
          <p:cNvPr id="1270724043" name="Imagen 1270724042"/>
          <p:cNvPicPr>
            <a:picLocks noChangeAspect="1"/>
          </p:cNvPicPr>
          <p:nvPr/>
        </p:nvPicPr>
        <p:blipFill rotWithShape="1">
          <a:blip r:embed="rId3"/>
          <a:stretch/>
        </p:blipFill>
        <p:spPr bwMode="auto">
          <a:xfrm>
            <a:off x="457200" y="3009900"/>
            <a:ext cx="12115800" cy="6165176"/>
          </a:xfrm>
          <a:prstGeom prst="rect">
            <a:avLst/>
          </a:prstGeom>
        </p:spPr>
      </p:pic>
      <p:sp>
        <p:nvSpPr>
          <p:cNvPr id="3" name="CuadroTexto 2">
            <a:extLst>
              <a:ext uri="{FF2B5EF4-FFF2-40B4-BE49-F238E27FC236}">
                <a16:creationId xmlns:a16="http://schemas.microsoft.com/office/drawing/2014/main" id="{637C6AF5-0DA6-5F65-6096-CEAC71698759}"/>
              </a:ext>
            </a:extLst>
          </p:cNvPr>
          <p:cNvSpPr txBox="1"/>
          <p:nvPr/>
        </p:nvSpPr>
        <p:spPr>
          <a:xfrm>
            <a:off x="9580169" y="977664"/>
            <a:ext cx="6281446" cy="1938992"/>
          </a:xfrm>
          <a:prstGeom prst="rect">
            <a:avLst/>
          </a:prstGeom>
          <a:noFill/>
        </p:spPr>
        <p:txBody>
          <a:bodyPr wrap="square">
            <a:spAutoFit/>
          </a:bodyPr>
          <a:lstStyle/>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A diferencia del método PATCH (actualización parcial), PUT requiere enviar el objeto completo. Se tuvo especial cuidado en incluir todos los campos requeridos para evitar que alguno quedara con valor nulo.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7993020" name="object 2"/>
          <p:cNvSpPr txBox="1">
            <a:spLocks noGrp="1"/>
          </p:cNvSpPr>
          <p:nvPr>
            <p:ph type="title"/>
          </p:nvPr>
        </p:nvSpPr>
        <p:spPr bwMode="auto">
          <a:xfrm>
            <a:off x="1212643" y="475121"/>
            <a:ext cx="11026154" cy="751487"/>
          </a:xfrm>
          <a:prstGeom prst="rect">
            <a:avLst/>
          </a:prstGeom>
        </p:spPr>
        <p:txBody>
          <a:bodyPr vert="horz" wrap="square" lIns="0" tIns="12699" rIns="0" bIns="0" rtlCol="0">
            <a:spAutoFit/>
          </a:bodyPr>
          <a:lstStyle/>
          <a:p>
            <a:pPr marL="12699">
              <a:spcBef>
                <a:spcPts val="99"/>
              </a:spcBef>
              <a:defRPr/>
            </a:pPr>
            <a:r>
              <a:rPr lang="es-ES" sz="3600" spc="124" dirty="0"/>
              <a:t>Ejercicio 4- </a:t>
            </a:r>
            <a:r>
              <a:rPr lang="es-ES" sz="2400" b="1" spc="124" dirty="0"/>
              <a:t>DELETE </a:t>
            </a:r>
            <a:r>
              <a:rPr lang="es-MX" sz="1800" b="1" dirty="0">
                <a:effectLst/>
                <a:latin typeface="Arial" panose="020B0604020202020204" pitchFamily="34" charset="0"/>
              </a:rPr>
              <a:t>Eliminar un Estudiante (DELETE)</a:t>
            </a:r>
            <a:br>
              <a:rPr lang="es-MX" sz="1800" b="1" dirty="0">
                <a:effectLst/>
                <a:latin typeface="Arial" panose="020B0604020202020204" pitchFamily="34" charset="0"/>
              </a:rPr>
            </a:br>
            <a:endParaRPr sz="1200" dirty="0"/>
          </a:p>
        </p:txBody>
      </p:sp>
      <p:sp>
        <p:nvSpPr>
          <p:cNvPr id="552865025" name="object 3"/>
          <p:cNvSpPr txBox="1"/>
          <p:nvPr/>
        </p:nvSpPr>
        <p:spPr bwMode="auto">
          <a:xfrm>
            <a:off x="9015437" y="4979008"/>
            <a:ext cx="257175" cy="299719"/>
          </a:xfrm>
          <a:prstGeom prst="rect">
            <a:avLst/>
          </a:prstGeom>
        </p:spPr>
        <p:txBody>
          <a:bodyPr vert="horz" wrap="square" lIns="0" tIns="12699" rIns="0" bIns="0" rtlCol="0">
            <a:spAutoFit/>
          </a:bodyPr>
          <a:lstStyle/>
          <a:p>
            <a:pPr marL="12699">
              <a:lnSpc>
                <a:spcPct val="100000"/>
              </a:lnSpc>
              <a:spcBef>
                <a:spcPts val="99"/>
              </a:spcBef>
              <a:defRPr/>
            </a:pPr>
            <a:r>
              <a:rPr sz="1800" spc="-24">
                <a:latin typeface="Calibri"/>
                <a:cs typeface="Calibri"/>
              </a:rPr>
              <a:t>03</a:t>
            </a:r>
            <a:endParaRPr sz="1800">
              <a:latin typeface="Calibri"/>
              <a:cs typeface="Calibri"/>
            </a:endParaRPr>
          </a:p>
        </p:txBody>
      </p:sp>
      <p:sp>
        <p:nvSpPr>
          <p:cNvPr id="1952655848" name="object 4"/>
          <p:cNvSpPr txBox="1"/>
          <p:nvPr/>
        </p:nvSpPr>
        <p:spPr bwMode="auto">
          <a:xfrm>
            <a:off x="11113876" y="2133985"/>
            <a:ext cx="6450844" cy="2756259"/>
          </a:xfrm>
          <a:prstGeom prst="rect">
            <a:avLst/>
          </a:prstGeom>
        </p:spPr>
        <p:txBody>
          <a:bodyPr vert="horz" wrap="square" lIns="0" tIns="12699" rIns="0" bIns="0" rtlCol="0">
            <a:spAutoFit/>
          </a:bodyPr>
          <a:lstStyle/>
          <a:p>
            <a:pPr>
              <a:defRPr/>
            </a:pPr>
            <a:r>
              <a:rPr sz="2000" b="0" i="0" u="none">
                <a:solidFill>
                  <a:schemeClr val="bg1"/>
                </a:solidFill>
                <a:latin typeface="Arial"/>
                <a:ea typeface="Arial"/>
                <a:cs typeface="Arial"/>
              </a:rPr>
              <a:t>Seleccionar  la request PUT Actualizar Estudiante.</a:t>
            </a:r>
            <a:endParaRPr sz="1800">
              <a:solidFill>
                <a:schemeClr val="bg1"/>
              </a:solidFill>
            </a:endParaRPr>
          </a:p>
          <a:p>
            <a:pPr>
              <a:defRPr/>
            </a:pPr>
            <a:r>
              <a:rPr sz="2000" b="0" i="0" u="none">
                <a:solidFill>
                  <a:schemeClr val="bg1"/>
                </a:solidFill>
                <a:latin typeface="Arial"/>
                <a:ea typeface="Arial"/>
                <a:cs typeface="Arial"/>
              </a:rPr>
              <a:t>Cambiar  el número en la URL por el ID del estudiante a actualizar.</a:t>
            </a:r>
            <a:endParaRPr sz="1800">
              <a:solidFill>
                <a:schemeClr val="bg1"/>
              </a:solidFill>
            </a:endParaRPr>
          </a:p>
          <a:p>
            <a:pPr>
              <a:defRPr/>
            </a:pPr>
            <a:r>
              <a:rPr sz="2000" b="0" i="0" u="none">
                <a:solidFill>
                  <a:schemeClr val="bg1"/>
                </a:solidFill>
                <a:latin typeface="Arial"/>
                <a:ea typeface="Arial"/>
                <a:cs typeface="Arial"/>
              </a:rPr>
              <a:t>En  Body pegar el JSON completo con los cambios deseados</a:t>
            </a:r>
          </a:p>
          <a:p>
            <a:pPr>
              <a:defRPr/>
            </a:pPr>
            <a:endParaRPr/>
          </a:p>
          <a:p>
            <a:pPr>
              <a:defRPr/>
            </a:pPr>
            <a:r>
              <a:rPr sz="2000" b="0" i="0" u="none">
                <a:solidFill>
                  <a:schemeClr val="bg1"/>
                </a:solidFill>
                <a:latin typeface="Arial"/>
                <a:ea typeface="Arial"/>
                <a:cs typeface="Arial"/>
              </a:rPr>
              <a:t>Clic  en Send y verificar que el status sea 200 OK.</a:t>
            </a:r>
            <a:endParaRPr sz="1800">
              <a:solidFill>
                <a:schemeClr val="bg1"/>
              </a:solidFill>
            </a:endParaRPr>
          </a:p>
          <a:p>
            <a:pPr>
              <a:defRPr/>
            </a:pPr>
            <a:r>
              <a:rPr sz="2000" b="0" i="0" u="none">
                <a:solidFill>
                  <a:schemeClr val="bg1"/>
                </a:solidFill>
                <a:latin typeface="Arial"/>
                <a:ea typeface="Arial"/>
                <a:cs typeface="Arial"/>
              </a:rPr>
              <a:t>En  la respuesta confirmar que el campo semestre ahora muestra 5 y la  dirección cambió.</a:t>
            </a:r>
            <a:br>
              <a:rPr sz="2000" b="0" i="0" u="none">
                <a:solidFill>
                  <a:schemeClr val="bg1"/>
                </a:solidFill>
                <a:latin typeface="Arial"/>
                <a:ea typeface="Arial"/>
                <a:cs typeface="Arial"/>
              </a:rPr>
            </a:br>
            <a:endParaRPr/>
          </a:p>
        </p:txBody>
      </p:sp>
      <p:sp>
        <p:nvSpPr>
          <p:cNvPr id="1668256999" name="object 5"/>
          <p:cNvSpPr txBox="1"/>
          <p:nvPr/>
        </p:nvSpPr>
        <p:spPr bwMode="auto">
          <a:xfrm>
            <a:off x="1657155" y="8171561"/>
            <a:ext cx="8830989" cy="256899"/>
          </a:xfrm>
          <a:prstGeom prst="rect">
            <a:avLst/>
          </a:prstGeom>
        </p:spPr>
        <p:txBody>
          <a:bodyPr vert="horz" wrap="square" lIns="0" tIns="12699" rIns="0" bIns="0" rtlCol="0">
            <a:spAutoFit/>
          </a:bodyPr>
          <a:lstStyle/>
          <a:p>
            <a:pPr>
              <a:defRPr/>
            </a:pPr>
            <a:endParaRPr sz="1600">
              <a:solidFill>
                <a:schemeClr val="bg1"/>
              </a:solidFill>
            </a:endParaRPr>
          </a:p>
        </p:txBody>
      </p:sp>
      <p:sp>
        <p:nvSpPr>
          <p:cNvPr id="442566051" name=" 442566050"/>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pic>
        <p:nvPicPr>
          <p:cNvPr id="1463586900" name="Imagen 1463586899"/>
          <p:cNvPicPr>
            <a:picLocks noChangeAspect="1"/>
          </p:cNvPicPr>
          <p:nvPr/>
        </p:nvPicPr>
        <p:blipFill rotWithShape="1">
          <a:blip r:embed="rId3"/>
          <a:stretch/>
        </p:blipFill>
        <p:spPr bwMode="auto">
          <a:xfrm>
            <a:off x="0" y="3568698"/>
            <a:ext cx="12238798" cy="62277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086631050" name="object 2"/>
          <p:cNvPicPr/>
          <p:nvPr/>
        </p:nvPicPr>
        <p:blipFill rotWithShape="1">
          <a:blip r:embed="rId3"/>
          <a:stretch/>
        </p:blipFill>
        <p:spPr bwMode="auto">
          <a:xfrm>
            <a:off x="0" y="0"/>
            <a:ext cx="18288000" cy="10287000"/>
          </a:xfrm>
          <a:prstGeom prst="rect">
            <a:avLst/>
          </a:prstGeom>
        </p:spPr>
      </p:pic>
      <p:pic>
        <p:nvPicPr>
          <p:cNvPr id="1519869159" name="object 3"/>
          <p:cNvPicPr/>
          <p:nvPr/>
        </p:nvPicPr>
        <p:blipFill rotWithShape="1">
          <a:blip r:embed="rId4"/>
          <a:stretch/>
        </p:blipFill>
        <p:spPr bwMode="auto">
          <a:xfrm>
            <a:off x="421081" y="521971"/>
            <a:ext cx="5802922" cy="4114800"/>
          </a:xfrm>
          <a:prstGeom prst="rect">
            <a:avLst/>
          </a:prstGeom>
        </p:spPr>
      </p:pic>
      <p:pic>
        <p:nvPicPr>
          <p:cNvPr id="766756948" name="object 4"/>
          <p:cNvPicPr/>
          <p:nvPr/>
        </p:nvPicPr>
        <p:blipFill rotWithShape="1">
          <a:blip r:embed="rId5"/>
          <a:stretch/>
        </p:blipFill>
        <p:spPr bwMode="auto">
          <a:xfrm>
            <a:off x="12063945" y="5773356"/>
            <a:ext cx="5802922" cy="4114800"/>
          </a:xfrm>
          <a:prstGeom prst="rect">
            <a:avLst/>
          </a:prstGeom>
        </p:spPr>
      </p:pic>
      <p:grpSp>
        <p:nvGrpSpPr>
          <p:cNvPr id="195035859" name="object 5"/>
          <p:cNvGrpSpPr/>
          <p:nvPr/>
        </p:nvGrpSpPr>
        <p:grpSpPr bwMode="auto">
          <a:xfrm>
            <a:off x="6459493" y="531199"/>
            <a:ext cx="11011535" cy="153035"/>
            <a:chOff x="6459493" y="531199"/>
            <a:chExt cx="11011535" cy="153035"/>
          </a:xfrm>
        </p:grpSpPr>
        <p:sp>
          <p:nvSpPr>
            <p:cNvPr id="6" name="object 6"/>
            <p:cNvSpPr/>
            <p:nvPr/>
          </p:nvSpPr>
          <p:spPr bwMode="auto">
            <a:xfrm>
              <a:off x="6528549" y="607694"/>
              <a:ext cx="10942320" cy="0"/>
            </a:xfrm>
            <a:custGeom>
              <a:avLst/>
              <a:gdLst/>
              <a:ahLst/>
              <a:cxnLst/>
              <a:rect l="l" t="t" r="r" b="b"/>
              <a:pathLst>
                <a:path w="10942319" extrusionOk="0">
                  <a:moveTo>
                    <a:pt x="0" y="0"/>
                  </a:moveTo>
                  <a:lnTo>
                    <a:pt x="10942243" y="0"/>
                  </a:lnTo>
                </a:path>
              </a:pathLst>
            </a:custGeom>
            <a:grpFill/>
            <a:ln w="19049">
              <a:solidFill>
                <a:srgbClr val="FFFFFF"/>
              </a:solidFill>
            </a:ln>
          </p:spPr>
          <p:txBody>
            <a:bodyPr wrap="square" lIns="0" tIns="0" rIns="0" bIns="0" rtlCol="0"/>
            <a:lstStyle/>
            <a:p>
              <a:pPr>
                <a:defRPr/>
              </a:pPr>
              <a:endParaRPr/>
            </a:p>
          </p:txBody>
        </p:sp>
        <p:pic>
          <p:nvPicPr>
            <p:cNvPr id="7" name="object 7"/>
            <p:cNvPicPr/>
            <p:nvPr/>
          </p:nvPicPr>
          <p:blipFill rotWithShape="1">
            <a:blip r:embed="rId6"/>
            <a:stretch/>
          </p:blipFill>
          <p:spPr bwMode="auto">
            <a:xfrm>
              <a:off x="6459493" y="531199"/>
              <a:ext cx="138111" cy="152990"/>
            </a:xfrm>
            <a:prstGeom prst="rect">
              <a:avLst/>
            </a:prstGeom>
          </p:spPr>
        </p:pic>
      </p:grpSp>
      <p:grpSp>
        <p:nvGrpSpPr>
          <p:cNvPr id="560480666" name="object 8"/>
          <p:cNvGrpSpPr/>
          <p:nvPr/>
        </p:nvGrpSpPr>
        <p:grpSpPr bwMode="auto">
          <a:xfrm>
            <a:off x="752881" y="9668786"/>
            <a:ext cx="11011535" cy="153035"/>
            <a:chOff x="752881" y="9668786"/>
            <a:chExt cx="11011535" cy="153035"/>
          </a:xfrm>
        </p:grpSpPr>
        <p:sp>
          <p:nvSpPr>
            <p:cNvPr id="9" name="object 9"/>
            <p:cNvSpPr/>
            <p:nvPr/>
          </p:nvSpPr>
          <p:spPr bwMode="auto">
            <a:xfrm>
              <a:off x="752881" y="9745281"/>
              <a:ext cx="10942320" cy="0"/>
            </a:xfrm>
            <a:custGeom>
              <a:avLst/>
              <a:gdLst/>
              <a:ahLst/>
              <a:cxnLst/>
              <a:rect l="l" t="t" r="r" b="b"/>
              <a:pathLst>
                <a:path w="10942320" extrusionOk="0">
                  <a:moveTo>
                    <a:pt x="10942243" y="0"/>
                  </a:moveTo>
                  <a:lnTo>
                    <a:pt x="0" y="0"/>
                  </a:lnTo>
                </a:path>
              </a:pathLst>
            </a:custGeom>
            <a:grpFill/>
            <a:ln w="19049">
              <a:solidFill>
                <a:srgbClr val="FFFFFF"/>
              </a:solidFill>
            </a:ln>
          </p:spPr>
          <p:txBody>
            <a:bodyPr wrap="square" lIns="0" tIns="0" rIns="0" bIns="0" rtlCol="0"/>
            <a:lstStyle/>
            <a:p>
              <a:pPr>
                <a:defRPr/>
              </a:pPr>
              <a:endParaRPr/>
            </a:p>
          </p:txBody>
        </p:sp>
        <p:pic>
          <p:nvPicPr>
            <p:cNvPr id="10" name="object 10"/>
            <p:cNvPicPr/>
            <p:nvPr/>
          </p:nvPicPr>
          <p:blipFill rotWithShape="1">
            <a:blip r:embed="rId7"/>
            <a:stretch/>
          </p:blipFill>
          <p:spPr bwMode="auto">
            <a:xfrm>
              <a:off x="11626069" y="9668786"/>
              <a:ext cx="138111" cy="152990"/>
            </a:xfrm>
            <a:prstGeom prst="rect">
              <a:avLst/>
            </a:prstGeom>
          </p:spPr>
        </p:pic>
      </p:grpSp>
      <p:sp>
        <p:nvSpPr>
          <p:cNvPr id="1527036298" name="object 11"/>
          <p:cNvSpPr txBox="1"/>
          <p:nvPr/>
        </p:nvSpPr>
        <p:spPr bwMode="auto">
          <a:xfrm>
            <a:off x="5830386" y="3459682"/>
            <a:ext cx="6632344" cy="5552802"/>
          </a:xfrm>
          <a:prstGeom prst="rect">
            <a:avLst/>
          </a:prstGeom>
        </p:spPr>
        <p:txBody>
          <a:bodyPr vert="horz" wrap="square" lIns="0" tIns="12700" rIns="0" bIns="0" rtlCol="0">
            <a:spAutoFit/>
          </a:bodyPr>
          <a:lstStyle/>
          <a:p>
            <a:pPr>
              <a:defRPr/>
            </a:pPr>
            <a:r>
              <a:rPr lang="es-ES" sz="2400" dirty="0">
                <a:solidFill>
                  <a:schemeClr val="bg1"/>
                </a:solidFill>
              </a:rPr>
              <a:t>En conclusión, este banco de ejercicios me permitió comprender de una forma más clara cómo se realizan las operaciones básicas dentro de una base de datos por medio de una API. Al trabajar con los métodos GET, POST, PUT y DELETE pude observar cómo el sistema responde dependiendo de la acción realizada, ya sea consultar, registrar, modificar o eliminar estudiantes. También aprendí la importancia de revisar bien los datos que se envían, ya que un error en el formato o en la información puede provocar que la solicitud no funcione correctamente. Esta práctica fue útil porque me ayudó a relacionar la teoría con el funcionamiento real de un sistema.</a:t>
            </a:r>
            <a:endParaRPr sz="2000" dirty="0">
              <a:solidFill>
                <a:schemeClr val="bg1"/>
              </a:solidFill>
            </a:endParaRPr>
          </a:p>
        </p:txBody>
      </p:sp>
      <p:sp>
        <p:nvSpPr>
          <p:cNvPr id="1321808712" name="object 12"/>
          <p:cNvSpPr txBox="1">
            <a:spLocks noGrp="1"/>
          </p:cNvSpPr>
          <p:nvPr>
            <p:ph type="title"/>
          </p:nvPr>
        </p:nvSpPr>
        <p:spPr bwMode="auto">
          <a:xfrm>
            <a:off x="7053109" y="1889315"/>
            <a:ext cx="4159250" cy="977900"/>
          </a:xfrm>
          <a:prstGeom prst="rect">
            <a:avLst/>
          </a:prstGeom>
        </p:spPr>
        <p:txBody>
          <a:bodyPr vert="horz" wrap="square" lIns="0" tIns="12700" rIns="0" bIns="0" rtlCol="0">
            <a:spAutoFit/>
          </a:bodyPr>
          <a:lstStyle/>
          <a:p>
            <a:pPr marL="12700">
              <a:lnSpc>
                <a:spcPct val="100000"/>
              </a:lnSpc>
              <a:spcBef>
                <a:spcPts val="100"/>
              </a:spcBef>
              <a:defRPr/>
            </a:pPr>
            <a:r>
              <a:rPr sz="6250" spc="150"/>
              <a:t>Conclusion</a:t>
            </a:r>
            <a:endParaRPr sz="625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TotalTime>
  <Words>785</Words>
  <Application>Microsoft Office PowerPoint</Application>
  <PresentationFormat>Personalizado</PresentationFormat>
  <Paragraphs>61</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Office Theme</vt:lpstr>
      <vt:lpstr>Presentación de PowerPoint</vt:lpstr>
      <vt:lpstr>INTRODUCCION</vt:lpstr>
      <vt:lpstr>JUSTIFICACION</vt:lpstr>
      <vt:lpstr>Ejercicio 1 Consultar Datos (GET todos los estudiantes)</vt:lpstr>
      <vt:lpstr>Ejercicio 2 — Registrar un Estudiante (POST)</vt:lpstr>
      <vt:lpstr>Ejercicio 3- Actualizar Datos de un Estudiantecon PUT </vt:lpstr>
      <vt:lpstr>Ejercicio 4- DELETE Eliminar un Estudiante (DELETE)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Eddi Castillo</dc:creator>
  <cp:lastModifiedBy>eddi castillo</cp:lastModifiedBy>
  <cp:revision>3</cp:revision>
  <dcterms:created xsi:type="dcterms:W3CDTF">2026-05-06T04:52:09Z</dcterms:created>
  <dcterms:modified xsi:type="dcterms:W3CDTF">2026-06-04T03:58:16Z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2026-05-06T00:00:00Z</vt:filetime>
  </property>
  <property fmtid="{D5CDD505-2E9C-101B-9397-08002B2CF9AE}" pid="3" name="LastSaved">
    <vt:filetime>2026-05-06T00:00:00Z</vt:filetime>
  </property>
  <property fmtid="{D5CDD505-2E9C-101B-9397-08002B2CF9AE}" pid="4" name="Producer">
    <vt:lpwstr>3-Heights(TM) PDF Security Shell 4.8.25.2 (http://www.pdf-tools.com)</vt:lpwstr>
  </property>
</Properties>
</file>