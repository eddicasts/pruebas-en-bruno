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8288000" cy="102854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20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600" b="1" spc="-1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 b="1">
              <a:solidFill>
                <a:srgbClr val="FFFFFF"/>
              </a:solidFill>
              <a:latin typeface="Liberatio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 b="1">
              <a:solidFill>
                <a:srgbClr val="D6D5D4"/>
              </a:solidFill>
              <a:latin typeface="Liberatio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18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18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0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0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 txBox="1">
            <a:spLocks noGrp="1"/>
          </p:cNvSpPr>
          <p:nvPr>
            <p:ph type="body" idx="1"/>
          </p:nvPr>
        </p:nvSpPr>
        <p:spPr>
          <a:xfrm>
            <a:off x="685799" y="4399200"/>
            <a:ext cx="5486399" cy="3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spAutoFit/>
          </a:bodyPr>
          <a:lstStyle/>
          <a:p>
            <a:pPr lvl="0"/>
            <a:endParaRPr lang="en-US" sz="2200" b="1">
              <a:solidFill>
                <a:srgbClr val="D6D5D4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425223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2750"/>
            <a:ext cx="13716000" cy="35814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2263"/>
            <a:ext cx="13716000" cy="2482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8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930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3813"/>
            <a:ext cx="15773400" cy="427831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3400"/>
            <a:ext cx="15773400" cy="2249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76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28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2520950"/>
            <a:ext cx="7735888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0950"/>
            <a:ext cx="7775575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3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825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2712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35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206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365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69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69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0051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2750"/>
            <a:ext cx="13716000" cy="35814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2263"/>
            <a:ext cx="13716000" cy="2482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9551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12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3813"/>
            <a:ext cx="15773400" cy="427831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3400"/>
            <a:ext cx="15773400" cy="2249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637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6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9445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2520950"/>
            <a:ext cx="7735888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0950"/>
            <a:ext cx="7775575" cy="1236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6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183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34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83708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7362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0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174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7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738438"/>
            <a:ext cx="15773400" cy="65262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2695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69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69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417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7573" y="1870560"/>
            <a:ext cx="12772103" cy="6317973"/>
          </a:xfrm>
          <a:prstGeom prst="rect">
            <a:avLst/>
          </a:prstGeom>
          <a:noFill/>
          <a:ln>
            <a:noFill/>
          </a:ln>
        </p:spPr>
        <p:txBody>
          <a:bodyPr wrap="square" lIns="0" tIns="12598" rIns="0" bIns="0" anchor="t">
            <a:spAutoFit/>
          </a:bodyPr>
          <a:lstStyle/>
          <a:p>
            <a:pPr marL="1582420" marR="253365" lvl="0" indent="0" algn="ctr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s-ES" sz="2400" b="1" u="none" baseline="0" dirty="0">
                <a:latin typeface="Arial"/>
                <a:cs typeface="Arial"/>
              </a:rPr>
              <a:t>Instituto</a:t>
            </a:r>
            <a:r>
              <a:rPr lang="es-ES" sz="2400" b="1" u="none" spc="-39" baseline="0" dirty="0">
                <a:latin typeface="Arial"/>
                <a:cs typeface="Arial"/>
              </a:rPr>
              <a:t> </a:t>
            </a:r>
            <a:r>
              <a:rPr lang="es-ES" sz="2400" b="1" u="none" baseline="0" dirty="0">
                <a:latin typeface="Arial"/>
                <a:cs typeface="Arial"/>
              </a:rPr>
              <a:t>Tecnológico</a:t>
            </a:r>
            <a:r>
              <a:rPr lang="es-ES" sz="2400" b="1" u="none" spc="-39" baseline="0" dirty="0">
                <a:latin typeface="Arial"/>
                <a:cs typeface="Arial"/>
              </a:rPr>
              <a:t> </a:t>
            </a:r>
            <a:r>
              <a:rPr lang="es-ES" sz="2400" b="1" u="none" baseline="0" dirty="0">
                <a:latin typeface="Arial"/>
                <a:cs typeface="Arial"/>
              </a:rPr>
              <a:t>de</a:t>
            </a:r>
            <a:r>
              <a:rPr lang="es-ES" sz="2400" b="1" u="none" spc="-39" baseline="0" dirty="0">
                <a:latin typeface="Arial"/>
                <a:cs typeface="Arial"/>
              </a:rPr>
              <a:t> </a:t>
            </a:r>
            <a:r>
              <a:rPr lang="es-ES" sz="2400" b="1" u="none" baseline="0" dirty="0">
                <a:latin typeface="Arial"/>
                <a:cs typeface="Arial"/>
              </a:rPr>
              <a:t>Frontera</a:t>
            </a:r>
            <a:r>
              <a:rPr lang="es-ES" sz="2400" b="1" u="none" spc="-34" baseline="0" dirty="0">
                <a:latin typeface="Arial"/>
                <a:cs typeface="Arial"/>
              </a:rPr>
              <a:t> </a:t>
            </a:r>
            <a:r>
              <a:rPr lang="es-ES" sz="2400" b="1" u="none" spc="-11" baseline="0" dirty="0">
                <a:latin typeface="Arial"/>
                <a:cs typeface="Arial"/>
              </a:rPr>
              <a:t>Comalapa </a:t>
            </a:r>
            <a:r>
              <a:rPr lang="es-ES" sz="2400" b="1" u="none" baseline="0" dirty="0">
                <a:latin typeface="Arial"/>
                <a:cs typeface="Arial"/>
              </a:rPr>
              <a:t>Modalidad</a:t>
            </a:r>
            <a:r>
              <a:rPr lang="es-ES" sz="2400" b="1" u="none" spc="-14" baseline="0" dirty="0">
                <a:latin typeface="Arial"/>
                <a:cs typeface="Arial"/>
              </a:rPr>
              <a:t> </a:t>
            </a:r>
            <a:r>
              <a:rPr lang="es-ES" sz="2400" b="1" u="none" spc="-11" baseline="0" dirty="0">
                <a:latin typeface="Arial"/>
                <a:cs typeface="Arial"/>
              </a:rPr>
              <a:t>Mixta</a:t>
            </a:r>
          </a:p>
          <a:p>
            <a:pPr marL="0" marR="253365" lvl="0" indent="0" algn="l">
              <a:lnSpc>
                <a:spcPct val="100000"/>
              </a:lnSpc>
              <a:spcBef>
                <a:spcPts val="354"/>
              </a:spcBef>
              <a:spcAft>
                <a:spcPts val="0"/>
              </a:spcAft>
              <a:buNone/>
            </a:pPr>
            <a:endParaRPr lang="es-ES" dirty="0"/>
          </a:p>
          <a:p>
            <a:pPr marL="1323340" marR="253365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spc="-11" baseline="0" dirty="0">
                <a:latin typeface="Arial"/>
                <a:cs typeface="Arial"/>
              </a:rPr>
              <a:t>Materia:</a:t>
            </a:r>
          </a:p>
          <a:p>
            <a:pPr marL="1322070" marR="253365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spc="-11" baseline="0" dirty="0">
                <a:latin typeface="Arial"/>
                <a:cs typeface="Arial"/>
              </a:rPr>
              <a:t>Administración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de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base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de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datos</a:t>
            </a:r>
          </a:p>
          <a:p>
            <a:pPr marL="3627120" marR="2297430" lvl="0" indent="179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spc="-11" baseline="0" dirty="0">
                <a:latin typeface="Arial"/>
                <a:cs typeface="Arial"/>
              </a:rPr>
              <a:t>Semestre: </a:t>
            </a:r>
            <a:r>
              <a:rPr lang="es-ES" sz="2600" u="none" baseline="0" dirty="0">
                <a:latin typeface="Arial"/>
                <a:cs typeface="Arial"/>
              </a:rPr>
              <a:t>Sexto</a:t>
            </a:r>
            <a:r>
              <a:rPr lang="es-ES" sz="2600" u="none" spc="-7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semestre </a:t>
            </a:r>
            <a:r>
              <a:rPr lang="es-ES" sz="2600" b="1" u="none" spc="-11" baseline="0" dirty="0">
                <a:latin typeface="Arial"/>
                <a:cs typeface="Arial"/>
              </a:rPr>
              <a:t>Especialidad:</a:t>
            </a:r>
          </a:p>
          <a:p>
            <a:pPr marL="131699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>
                <a:latin typeface="Arial"/>
                <a:cs typeface="Arial"/>
              </a:rPr>
              <a:t>Ingeniería</a:t>
            </a:r>
            <a:r>
              <a:rPr lang="es-ES" sz="2600" u="none" spc="-96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en</a:t>
            </a:r>
            <a:r>
              <a:rPr lang="es-ES" sz="2600" u="none" spc="-90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Sistemas</a:t>
            </a:r>
            <a:r>
              <a:rPr lang="es-ES" sz="2600" u="none" spc="-96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Computacionales.</a:t>
            </a:r>
          </a:p>
          <a:p>
            <a:pPr marL="132207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Numero</a:t>
            </a:r>
            <a:r>
              <a:rPr lang="es-ES" sz="2600" b="1" u="none" spc="-51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</a:t>
            </a:r>
            <a:r>
              <a:rPr lang="es-ES" sz="2600" b="1" u="none" spc="-51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control:</a:t>
            </a:r>
          </a:p>
          <a:p>
            <a:pPr marL="132461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spc="-11" baseline="0" dirty="0">
                <a:latin typeface="Arial"/>
                <a:cs typeface="Arial"/>
              </a:rPr>
              <a:t>231260005</a:t>
            </a:r>
          </a:p>
          <a:p>
            <a:pPr marL="132334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Nombre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del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alumno:</a:t>
            </a:r>
          </a:p>
          <a:p>
            <a:pPr marL="132334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>
                <a:latin typeface="Arial"/>
                <a:cs typeface="Arial"/>
              </a:rPr>
              <a:t>Eddi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Uriel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Castillo</a:t>
            </a:r>
            <a:r>
              <a:rPr lang="es-ES" sz="2600" u="none" spc="-53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Sánchez</a:t>
            </a:r>
          </a:p>
          <a:p>
            <a:pPr marL="132334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Nombre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del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docente:</a:t>
            </a:r>
          </a:p>
          <a:p>
            <a:pPr marL="132461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>
                <a:latin typeface="Arial"/>
                <a:cs typeface="Arial"/>
              </a:rPr>
              <a:t>Francisco</a:t>
            </a:r>
            <a:r>
              <a:rPr lang="es-ES" sz="2600" u="none" spc="-99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Javier</a:t>
            </a:r>
            <a:r>
              <a:rPr lang="es-ES" sz="2600" u="none" spc="-96" baseline="0" dirty="0">
                <a:latin typeface="Arial"/>
                <a:cs typeface="Arial"/>
              </a:rPr>
              <a:t> </a:t>
            </a:r>
            <a:r>
              <a:rPr lang="es-ES" sz="2600" u="none" baseline="0" dirty="0">
                <a:latin typeface="Arial"/>
                <a:cs typeface="Arial"/>
              </a:rPr>
              <a:t>Mingo</a:t>
            </a:r>
            <a:r>
              <a:rPr lang="es-ES" sz="2600" u="none" spc="-9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 err="1">
                <a:latin typeface="Arial"/>
                <a:cs typeface="Arial"/>
              </a:rPr>
              <a:t>Velazquez</a:t>
            </a:r>
            <a:endParaRPr lang="es-ES" sz="2600" u="none" spc="-11" baseline="0" dirty="0">
              <a:latin typeface="Arial"/>
              <a:cs typeface="Arial"/>
            </a:endParaRPr>
          </a:p>
          <a:p>
            <a:pPr marL="132207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Nombre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del</a:t>
            </a:r>
            <a:r>
              <a:rPr lang="es-ES" sz="2600" b="1" u="none" spc="-34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trabajo:</a:t>
            </a:r>
          </a:p>
          <a:p>
            <a:pPr marL="1322070" marR="229743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u="none" baseline="0" dirty="0" err="1">
                <a:latin typeface="Arial"/>
                <a:cs typeface="Arial"/>
              </a:rPr>
              <a:t>Act</a:t>
            </a:r>
            <a:r>
              <a:rPr lang="es-ES" sz="2600" u="none" spc="-59" baseline="0" dirty="0">
                <a:latin typeface="Arial"/>
                <a:cs typeface="Arial"/>
              </a:rPr>
              <a:t> </a:t>
            </a:r>
            <a:r>
              <a:rPr lang="es-ES" sz="2600" u="none" spc="-11" baseline="0" dirty="0">
                <a:latin typeface="Arial"/>
                <a:cs typeface="Arial"/>
              </a:rPr>
              <a:t>2.2 Reporte de practica</a:t>
            </a:r>
          </a:p>
          <a:p>
            <a:pPr marL="1324610" marR="2297430" lvl="0" indent="0" algn="ctr">
              <a:lnSpc>
                <a:spcPts val="3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u="none" baseline="0" dirty="0">
                <a:latin typeface="Arial"/>
                <a:cs typeface="Arial"/>
              </a:rPr>
              <a:t>Fecha</a:t>
            </a:r>
            <a:r>
              <a:rPr lang="es-ES" sz="2600" b="1" u="none" spc="-45" baseline="0" dirty="0">
                <a:latin typeface="Arial"/>
                <a:cs typeface="Arial"/>
              </a:rPr>
              <a:t> </a:t>
            </a:r>
            <a:r>
              <a:rPr lang="es-ES" sz="2600" b="1" u="none" baseline="0" dirty="0">
                <a:latin typeface="Arial"/>
                <a:cs typeface="Arial"/>
              </a:rPr>
              <a:t>de</a:t>
            </a:r>
            <a:r>
              <a:rPr lang="es-ES" sz="2600" b="1" u="none" spc="-39" baseline="0" dirty="0">
                <a:latin typeface="Arial"/>
                <a:cs typeface="Arial"/>
              </a:rPr>
              <a:t> </a:t>
            </a:r>
            <a:r>
              <a:rPr lang="es-ES" sz="2600" b="1" u="none" spc="-11" baseline="0" dirty="0">
                <a:latin typeface="Arial"/>
                <a:cs typeface="Arial"/>
              </a:rPr>
              <a:t>entrega</a:t>
            </a:r>
            <a:r>
              <a:rPr lang="es-ES" sz="2600" u="none" spc="-11" baseline="0" dirty="0">
                <a:latin typeface="Arial"/>
                <a:cs typeface="Arial"/>
              </a:rPr>
              <a:t>:</a:t>
            </a:r>
          </a:p>
          <a:p>
            <a:pPr marL="0" marR="2297430" lvl="0" indent="0" algn="ctr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u="none" baseline="0" dirty="0">
                <a:latin typeface="Arial"/>
                <a:cs typeface="Arial"/>
              </a:rPr>
              <a:t>Frontera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baseline="0" dirty="0" err="1">
                <a:latin typeface="Arial"/>
                <a:cs typeface="Arial"/>
              </a:rPr>
              <a:t>comalapa</a:t>
            </a:r>
            <a:r>
              <a:rPr lang="es-ES" sz="2800" u="none" baseline="0" dirty="0">
                <a:latin typeface="Arial"/>
                <a:cs typeface="Arial"/>
              </a:rPr>
              <a:t>,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Chiapas</a:t>
            </a:r>
            <a:r>
              <a:rPr lang="es-ES" sz="2800" u="none" spc="-73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a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spc="-73" baseline="0" dirty="0">
                <a:latin typeface="Arial"/>
                <a:cs typeface="Arial"/>
              </a:rPr>
              <a:t>03 </a:t>
            </a:r>
            <a:r>
              <a:rPr lang="es-ES" sz="2800" u="none" baseline="0" dirty="0">
                <a:latin typeface="Arial"/>
                <a:cs typeface="Arial"/>
              </a:rPr>
              <a:t>de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mayo</a:t>
            </a:r>
            <a:r>
              <a:rPr lang="es-ES" sz="2800" u="none" spc="-73" baseline="0" dirty="0">
                <a:latin typeface="Arial"/>
                <a:cs typeface="Arial"/>
              </a:rPr>
              <a:t> </a:t>
            </a:r>
            <a:r>
              <a:rPr lang="es-ES" sz="2800" u="none" baseline="0" dirty="0">
                <a:latin typeface="Arial"/>
                <a:cs typeface="Arial"/>
              </a:rPr>
              <a:t>del</a:t>
            </a:r>
            <a:r>
              <a:rPr lang="es-ES" sz="2800" u="none" spc="-79" baseline="0" dirty="0">
                <a:latin typeface="Arial"/>
                <a:cs typeface="Arial"/>
              </a:rPr>
              <a:t> </a:t>
            </a:r>
            <a:r>
              <a:rPr lang="es-ES" sz="2800" u="none" spc="-19" baseline="0" dirty="0">
                <a:latin typeface="Arial"/>
                <a:cs typeface="Arial"/>
              </a:rPr>
              <a:t>2026</a:t>
            </a:r>
          </a:p>
        </p:txBody>
      </p:sp>
      <p:pic>
        <p:nvPicPr>
          <p:cNvPr id="3" name="object 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2000" y="461879"/>
            <a:ext cx="5562000" cy="63288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3661999" y="4222799"/>
            <a:ext cx="3368880" cy="459719"/>
          </a:xfrm>
          <a:prstGeom prst="rect">
            <a:avLst/>
          </a:prstGeom>
          <a:noFill/>
          <a:ln>
            <a:noFill/>
          </a:ln>
        </p:spPr>
        <p:txBody>
          <a:bodyPr lIns="89992" tIns="44996" rIns="89992" bIns="44996">
            <a:spAutoFit/>
          </a:bodyPr>
          <a:lstStyle/>
          <a:p>
            <a:pPr lvl="0">
              <a:buNone/>
            </a:pPr>
            <a:r>
              <a:rPr lang="en-US" sz="2600" b="1" u="none" baseline="0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lang="en-US" sz="2600" b="1" u="none" spc="-34" baseline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600" b="1" u="none" baseline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lang="en-US" sz="2600" b="1" u="none" spc="-34" baseline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600" b="1" u="none" spc="-11" baseline="0">
                <a:solidFill>
                  <a:srgbClr val="FFFFFF"/>
                </a:solidFill>
                <a:latin typeface="Arial"/>
                <a:cs typeface="Arial"/>
              </a:rPr>
              <a:t>alumno: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5200"/>
          </a:xfrm>
          <a:prstGeom prst="rect">
            <a:avLst/>
          </a:prstGeom>
          <a:ln>
            <a:noFill/>
          </a:ln>
        </p:spPr>
      </p:pic>
      <p:pic>
        <p:nvPicPr>
          <p:cNvPr id="3" name="object 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800" y="2075039"/>
            <a:ext cx="6577200" cy="6577200"/>
          </a:xfrm>
          <a:prstGeom prst="rect">
            <a:avLst/>
          </a:prstGeom>
          <a:ln>
            <a:noFill/>
          </a:ln>
        </p:spPr>
      </p:pic>
      <p:pic>
        <p:nvPicPr>
          <p:cNvPr id="4" name="object 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08400"/>
            <a:ext cx="3607200" cy="919799"/>
          </a:xfrm>
          <a:prstGeom prst="rect">
            <a:avLst/>
          </a:prstGeom>
          <a:ln>
            <a:noFill/>
          </a:ln>
        </p:spPr>
      </p:pic>
      <p:pic>
        <p:nvPicPr>
          <p:cNvPr id="5" name="object 5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800" y="0"/>
            <a:ext cx="3855599" cy="617400"/>
          </a:xfrm>
          <a:prstGeom prst="rect">
            <a:avLst/>
          </a:prstGeom>
          <a:ln>
            <a:noFill/>
          </a:ln>
        </p:spPr>
      </p:pic>
      <p:sp>
        <p:nvSpPr>
          <p:cNvPr id="6" name="object 6"/>
          <p:cNvSpPr txBox="1">
            <a:spLocks noGrp="1"/>
          </p:cNvSpPr>
          <p:nvPr>
            <p:ph type="title" sz="quarter" idx="4294967295"/>
          </p:nvPr>
        </p:nvSpPr>
        <p:spPr>
          <a:xfrm>
            <a:off x="1666439" y="3399120"/>
            <a:ext cx="8661600" cy="12934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n-US" sz="8400" spc="195">
                <a:solidFill>
                  <a:srgbClr val="FFFFFF"/>
                </a:solidFill>
                <a:latin typeface="Arial"/>
                <a:cs typeface="Arial"/>
              </a:rPr>
              <a:t>INTRODUCCI</a:t>
            </a:r>
            <a:r>
              <a:rPr lang="en-US" sz="8400" spc="192">
                <a:solidFill>
                  <a:srgbClr val="FFFFFF"/>
                </a:solidFill>
                <a:latin typeface="Arial"/>
                <a:cs typeface="Arial"/>
              </a:rPr>
              <a:t>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6439" y="4928400"/>
            <a:ext cx="6836399" cy="5521558"/>
          </a:xfrm>
          <a:prstGeom prst="rect">
            <a:avLst/>
          </a:prstGeom>
          <a:noFill/>
          <a:ln>
            <a:noFill/>
          </a:ln>
        </p:spPr>
        <p:txBody>
          <a:bodyPr lIns="0" tIns="12238" rIns="0" bIns="0" anchor="t">
            <a:spAutoFit/>
          </a:bodyPr>
          <a:lstStyle/>
          <a:p>
            <a:pPr algn="l"/>
            <a:r>
              <a:rPr lang="es-ES" sz="2400" b="0" i="0" dirty="0">
                <a:solidFill>
                  <a:schemeClr val="bg1"/>
                </a:solidFill>
                <a:effectLst/>
                <a:latin typeface="pplxSerif"/>
              </a:rPr>
              <a:t>En esta práctica se desarrolló el uso de una API REST mediante el manejo de peticiones HTTP con los métodos GET, POST, PUT y DELETE, utilizando herramientas de prueba para verificar el funcionamiento de cada operación. El objetivo principal fue comprender cómo se consultan, registran, actualizan y eliminan datos dentro de una colección de estudiantes, observando la respuesta del servidor en cada caso. Esta actividad permitió reforzar los conocimientos sobre el intercambio de información entre cliente y servidor, así como la importancia de estructurar correctamente las solicitudes para obtener resultados exitosos.</a:t>
            </a:r>
          </a:p>
          <a:p>
            <a:br>
              <a:rPr lang="es-ES" sz="2400" dirty="0"/>
            </a:br>
            <a:endParaRPr lang="es-ES" sz="2200" b="1" u="none" baseline="0" dirty="0">
              <a:solidFill>
                <a:srgbClr val="FFFFFF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5200"/>
          </a:xfrm>
          <a:prstGeom prst="rect">
            <a:avLst/>
          </a:prstGeom>
          <a:ln>
            <a:noFill/>
          </a:ln>
        </p:spPr>
      </p:pic>
      <p:pic>
        <p:nvPicPr>
          <p:cNvPr id="3" name="object 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800" y="2075039"/>
            <a:ext cx="6577200" cy="6577200"/>
          </a:xfrm>
          <a:prstGeom prst="rect">
            <a:avLst/>
          </a:prstGeom>
          <a:ln>
            <a:noFill/>
          </a:ln>
        </p:spPr>
      </p:pic>
      <p:pic>
        <p:nvPicPr>
          <p:cNvPr id="4" name="object 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08400"/>
            <a:ext cx="3607200" cy="919799"/>
          </a:xfrm>
          <a:prstGeom prst="rect">
            <a:avLst/>
          </a:prstGeom>
          <a:ln>
            <a:noFill/>
          </a:ln>
        </p:spPr>
      </p:pic>
      <p:pic>
        <p:nvPicPr>
          <p:cNvPr id="5" name="object 5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800" y="0"/>
            <a:ext cx="3855599" cy="617400"/>
          </a:xfrm>
          <a:prstGeom prst="rect">
            <a:avLst/>
          </a:prstGeom>
          <a:ln>
            <a:noFill/>
          </a:ln>
        </p:spPr>
      </p:pic>
      <p:sp>
        <p:nvSpPr>
          <p:cNvPr id="6" name="object 6"/>
          <p:cNvSpPr txBox="1">
            <a:spLocks noGrp="1"/>
          </p:cNvSpPr>
          <p:nvPr>
            <p:ph type="title" sz="quarter" idx="4294967295"/>
          </p:nvPr>
        </p:nvSpPr>
        <p:spPr>
          <a:xfrm>
            <a:off x="1666439" y="3398759"/>
            <a:ext cx="8456400" cy="13057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n-US" sz="8400" spc="201">
                <a:solidFill>
                  <a:srgbClr val="FFFFFF"/>
                </a:solidFill>
                <a:latin typeface="Arial"/>
                <a:cs typeface="Arial"/>
              </a:rPr>
              <a:t>JUSTIFICACION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6439" y="4939200"/>
            <a:ext cx="6685200" cy="515259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algn="l"/>
            <a:r>
              <a:rPr lang="es-ES" sz="2400" b="0" i="0" dirty="0">
                <a:solidFill>
                  <a:schemeClr val="bg1"/>
                </a:solidFill>
                <a:effectLst/>
                <a:latin typeface="pplxSerif"/>
              </a:rPr>
              <a:t>La realización de esta práctica es importante porque permite aplicar de manera directa los conocimientos teóricos sobre administración de bases de datos y servicios web en un entorno real. El uso de métodos HTTP para manipular registros ayuda a entender el funcionamiento básico de muchas aplicaciones modernas, donde la información debe almacenarse, consultarse y modificarse de forma eficiente. Además, esta actividad fortalece habilidades técnicas necesarias en el desarrollo de sistemas, como la correcta elaboración de solicitudes, la interpretación de respuestas y la validación de resultados obtenidos.</a:t>
            </a:r>
          </a:p>
          <a:p>
            <a:br>
              <a:rPr lang="es-ES" sz="2400" dirty="0"/>
            </a:br>
            <a:endParaRPr lang="es-ES" sz="2200" b="1" u="none" baseline="0" dirty="0">
              <a:solidFill>
                <a:srgbClr val="D6D5D4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1- Consultar Datos 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05200" cy="4093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2600" spc="124" dirty="0">
                <a:latin typeface="Arial"/>
                <a:cs typeface="Arial"/>
              </a:rPr>
              <a:t>Consultar Datos</a:t>
            </a:r>
            <a:r>
              <a:rPr lang="es-ES" sz="2600" dirty="0">
                <a:latin typeface="Arial"/>
                <a:cs typeface="Arial"/>
              </a:rPr>
              <a:t> 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5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54000" y="2191680"/>
            <a:ext cx="6436800" cy="245160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Pasos en Bruno: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GET Listar Estudiantes en la colección.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Verificar  que la URL sea {{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baseUrl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}}/estudiantes.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Asegurarse  de que no haya nada en la pestaña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Hacer  clic en el botón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(flecha azul).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Revisar  que en el panel inferior aparezca el status 200 OK.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27200" cy="5608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non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esperado: un arreglo JSON  [ ]  (vacío si no hay datos) o una lista de objetos estudiante.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79" y="2366640"/>
            <a:ext cx="9979200" cy="5014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2- Consultar Datos GET po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08800" cy="4093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2600" spc="124" dirty="0">
                <a:latin typeface="Arial"/>
                <a:cs typeface="Arial"/>
              </a:rPr>
              <a:t>Consultar Datos</a:t>
            </a:r>
            <a:r>
              <a:rPr lang="es-ES" sz="2600" dirty="0">
                <a:latin typeface="Arial"/>
                <a:cs typeface="Arial"/>
              </a:rPr>
              <a:t> GET </a:t>
            </a:r>
            <a:r>
              <a:rPr lang="es-ES" sz="2600" dirty="0" err="1">
                <a:latin typeface="Arial"/>
                <a:cs typeface="Arial"/>
              </a:rPr>
              <a:t>po</a:t>
            </a:r>
            <a:r>
              <a:rPr lang="es-ES" sz="2600" dirty="0">
                <a:latin typeface="Arial"/>
                <a:cs typeface="Arial"/>
              </a:rPr>
              <a:t> 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54000" y="2191680"/>
            <a:ext cx="6440400" cy="2167157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GET Por ID.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En  la URL cambiar el número final por el ID del estudiante a buscar  (ejemplo: /1, /2, /3).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Clic  en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Revisar  que el status sea 200 OK y que el JSON corresponda al estudiante  correcto.</a:t>
            </a:r>
            <a:br>
              <a:rPr lang="es-ES" sz="20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lang="es-ES" sz="2000" u="none" baseline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5608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non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hace: regresa los datos de un único estudiante usando su ID. Primero es necesario haber registrado al menos uno (Prueba POST más abajo).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79" y="2280240"/>
            <a:ext cx="10159200" cy="516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3- Registrar Datos con PO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26800" cy="4093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2600" spc="124" dirty="0">
                <a:latin typeface="Arial"/>
                <a:cs typeface="Arial"/>
              </a:rPr>
              <a:t>Registrar Datos con </a:t>
            </a:r>
            <a:r>
              <a:rPr lang="es-ES" sz="2600" dirty="0">
                <a:latin typeface="Arial"/>
                <a:cs typeface="Arial"/>
              </a:rPr>
              <a:t>POST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96000" y="2134080"/>
            <a:ext cx="6443999" cy="12319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POST Registrar Estudiante.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Ir  a la pestaña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y seleccionar el tipo JSON.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Borrar  cualquier contenido anterior y pegar exactamente este JSON: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2566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lvl="0">
              <a:buNone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76041" y="88452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60" y="2346120"/>
            <a:ext cx="11260800" cy="5731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4- Actualizar datos del Estudiante 1 Con 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26800" cy="566719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3600" spc="124" dirty="0">
                <a:latin typeface="Arial"/>
                <a:cs typeface="Arial"/>
              </a:rPr>
              <a:t> </a:t>
            </a:r>
            <a:r>
              <a:rPr lang="es-ES" sz="2400" b="1" dirty="0">
                <a:latin typeface="Arial"/>
                <a:cs typeface="Arial"/>
              </a:rPr>
              <a:t>Actualizar datos del Estudiante 1</a:t>
            </a:r>
            <a:r>
              <a:rPr lang="es-ES" sz="2800" dirty="0">
                <a:latin typeface="Arial"/>
                <a:cs typeface="Arial"/>
              </a:rPr>
              <a:t>Con 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3200" y="2134080"/>
            <a:ext cx="6451199" cy="3059709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PUT Actualizar Estudiante.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Cambiar  el número en la URL por el ID del estudiante a actualizar.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En 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pegar el JSON completo con los cambios deseados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Clic  en </a:t>
            </a:r>
            <a:r>
              <a:rPr lang="es-ES" sz="20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000" u="none" baseline="0" dirty="0">
                <a:latin typeface="Arial"/>
                <a:ea typeface="Arial"/>
                <a:cs typeface="Arial"/>
              </a:rPr>
              <a:t> y verificar que el status sea 200 OK.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none" baseline="0" dirty="0">
                <a:latin typeface="Arial"/>
                <a:ea typeface="Arial"/>
                <a:cs typeface="Arial"/>
              </a:rPr>
              <a:t>En  la respuesta confirmar que el campo semestre ahora muestra 5 y la  dirección cambió.</a:t>
            </a:r>
            <a:br>
              <a:rPr lang="es-ES" sz="20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lang="es-ES" sz="2000" u="none" baseline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2566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lvl="0">
              <a:buNone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40" y="2134080"/>
            <a:ext cx="10684800" cy="5436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jercicio 5 Eliminar estudiante DEL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sz="quarter" idx="4294967295"/>
          </p:nvPr>
        </p:nvSpPr>
        <p:spPr>
          <a:xfrm>
            <a:off x="1212480" y="475200"/>
            <a:ext cx="11041200" cy="56196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s-ES" sz="3600" spc="124" dirty="0">
                <a:latin typeface="Arial"/>
                <a:cs typeface="Arial"/>
              </a:rPr>
              <a:t>Eliminar estudiante 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4400" y="4978800"/>
            <a:ext cx="256680" cy="2995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marR="0" lvl="0" indent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800" u="none" spc="-22" baseline="0">
                <a:latin typeface="Calibri"/>
                <a:cs typeface="Calibri"/>
              </a:rPr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3200" y="2134080"/>
            <a:ext cx="6454800" cy="3736817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Seleccionar  la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request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 DELETE Eliminar Estudiante.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Cambiar  el número de la URL por el ID del estudiante a eliminar.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Asegurarse  de que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Body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 esté en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None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 o vacío.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Clic  en </a:t>
            </a:r>
            <a:r>
              <a:rPr lang="es-ES" sz="2200" u="none" baseline="0" dirty="0" err="1">
                <a:latin typeface="Arial"/>
                <a:ea typeface="Arial"/>
                <a:cs typeface="Arial"/>
              </a:rPr>
              <a:t>Send</a:t>
            </a:r>
            <a:r>
              <a:rPr lang="es-ES" sz="2200" u="none" baseline="0" dirty="0">
                <a:latin typeface="Arial"/>
                <a:ea typeface="Arial"/>
                <a:cs typeface="Arial"/>
              </a:rPr>
              <a:t>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Verificar  que el status sea 204 No Content — el panel de respuesta estará  vacío, eso es correcto.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u="none" baseline="0" dirty="0">
                <a:latin typeface="Arial"/>
                <a:ea typeface="Arial"/>
                <a:cs typeface="Arial"/>
              </a:rPr>
              <a:t>Ejecutar  de nuevo la Prueba 1 (GET listar) para confirmar que el estudiante  ya no </a:t>
            </a:r>
            <a:r>
              <a:rPr lang="es-ES" sz="22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aparece.</a:t>
            </a:r>
            <a:br>
              <a:rPr lang="es-ES" sz="2200" u="none" baseline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lang="es-ES" sz="2200" u="none" baseline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7080" y="8172000"/>
            <a:ext cx="8830800" cy="25668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lvl="0">
              <a:buNone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909200" y="987840"/>
            <a:ext cx="1895039" cy="5486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20" y="1838519"/>
            <a:ext cx="10742400" cy="5464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5200"/>
          </a:xfrm>
          <a:prstGeom prst="rect">
            <a:avLst/>
          </a:prstGeom>
          <a:ln>
            <a:noFill/>
          </a:ln>
        </p:spPr>
      </p:pic>
      <p:pic>
        <p:nvPicPr>
          <p:cNvPr id="3" name="object 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800" y="2075039"/>
            <a:ext cx="6577200" cy="6577200"/>
          </a:xfrm>
          <a:prstGeom prst="rect">
            <a:avLst/>
          </a:prstGeom>
          <a:ln>
            <a:noFill/>
          </a:ln>
        </p:spPr>
      </p:pic>
      <p:pic>
        <p:nvPicPr>
          <p:cNvPr id="4" name="object 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08400"/>
            <a:ext cx="3607200" cy="919799"/>
          </a:xfrm>
          <a:prstGeom prst="rect">
            <a:avLst/>
          </a:prstGeom>
          <a:ln>
            <a:noFill/>
          </a:ln>
        </p:spPr>
      </p:pic>
      <p:pic>
        <p:nvPicPr>
          <p:cNvPr id="5" name="object 5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800" y="0"/>
            <a:ext cx="3855599" cy="617400"/>
          </a:xfrm>
          <a:prstGeom prst="rect">
            <a:avLst/>
          </a:prstGeom>
          <a:ln>
            <a:noFill/>
          </a:ln>
        </p:spPr>
      </p:pic>
      <p:sp>
        <p:nvSpPr>
          <p:cNvPr id="6" name="object 6"/>
          <p:cNvSpPr txBox="1">
            <a:spLocks noGrp="1"/>
          </p:cNvSpPr>
          <p:nvPr>
            <p:ph type="title" sz="quarter" idx="4294967295"/>
          </p:nvPr>
        </p:nvSpPr>
        <p:spPr>
          <a:xfrm>
            <a:off x="1666439" y="3398759"/>
            <a:ext cx="8456400" cy="1305720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marL="12598" lvl="0">
              <a:lnSpc>
                <a:spcPct val="100000"/>
              </a:lnSpc>
              <a:spcBef>
                <a:spcPts val="99"/>
              </a:spcBef>
            </a:pPr>
            <a:r>
              <a:rPr lang="en-US" sz="8400" spc="201" dirty="0">
                <a:solidFill>
                  <a:srgbClr val="FFFFFF"/>
                </a:solidFill>
                <a:latin typeface="Arial"/>
                <a:cs typeface="Arial"/>
              </a:rPr>
              <a:t>CONCLUSION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6439" y="4939200"/>
            <a:ext cx="6685200" cy="4783258"/>
          </a:xfrm>
          <a:prstGeom prst="rect">
            <a:avLst/>
          </a:prstGeom>
          <a:noFill/>
          <a:ln>
            <a:noFill/>
          </a:ln>
        </p:spPr>
        <p:txBody>
          <a:bodyPr lIns="0" tIns="12598" rIns="0" bIns="0" anchor="t">
            <a:spAutoFit/>
          </a:bodyPr>
          <a:lstStyle/>
          <a:p>
            <a:pPr algn="l"/>
            <a:r>
              <a:rPr lang="es-ES" sz="2400" b="0" i="0" dirty="0">
                <a:solidFill>
                  <a:schemeClr val="bg1"/>
                </a:solidFill>
                <a:effectLst/>
                <a:latin typeface="pplxSerif"/>
              </a:rPr>
              <a:t>Al finalizar la práctica, se logró identificar el comportamiento de una API REST al ejecutar operaciones básicas sobre datos de estudiantes mediante los métodos GET, POST, PUT y DELETE. También se comprobó la utilidad de estas herramientas para probar y validar el funcionamiento de los servicios antes de integrarlos en una aplicación completa. En conclusión, esta actividad contribuyó al desarrollo de conocimientos prácticos sobre la comunicación entre sistemas y el manejo de información en aplicaciones web.</a:t>
            </a:r>
          </a:p>
          <a:p>
            <a:br>
              <a:rPr lang="es-ES" sz="2400" dirty="0"/>
            </a:br>
            <a:endParaRPr lang="es-ES" sz="2200" b="1" u="none" baseline="0" dirty="0">
              <a:solidFill>
                <a:srgbClr val="D6D5D4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33834455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_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_20_and_20_Content_Title_20_and_20_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713</Words>
  <Application>Microsoft Office PowerPoint</Application>
  <PresentationFormat>Personalizado</PresentationFormat>
  <Paragraphs>68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Liberation Sans</vt:lpstr>
      <vt:lpstr>pplxSerif</vt:lpstr>
      <vt:lpstr>Blank_Blank</vt:lpstr>
      <vt:lpstr>Title_20_and_20_Content_Title_20_and_20_Content</vt:lpstr>
      <vt:lpstr>Presentación de PowerPoint</vt:lpstr>
      <vt:lpstr>INTRODUCCION</vt:lpstr>
      <vt:lpstr>JUSTIFICACION</vt:lpstr>
      <vt:lpstr>Consultar Datos GET</vt:lpstr>
      <vt:lpstr>Consultar Datos GET po id</vt:lpstr>
      <vt:lpstr>Registrar Datos con POST</vt:lpstr>
      <vt:lpstr> Actualizar datos del Estudiante 1Con PUT</vt:lpstr>
      <vt:lpstr>Eliminar estudiante DELETE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Eddi Castillo</dc:creator>
  <cp:lastModifiedBy>eddi castillo</cp:lastModifiedBy>
  <cp:revision>3</cp:revision>
  <dcterms:modified xsi:type="dcterms:W3CDTF">2026-06-04T03:55:22Z</dcterms:modified>
</cp:coreProperties>
</file>